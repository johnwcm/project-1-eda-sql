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824" autoAdjust="0"/>
  </p:normalViewPr>
  <p:slideViewPr>
    <p:cSldViewPr snapToGrid="0" snapToObjects="1">
      <p:cViewPr varScale="1">
        <p:scale>
          <a:sx n="65" d="100"/>
          <a:sy n="65" d="100"/>
        </p:scale>
        <p:origin x="133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9526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dirty="0"/>
              <a:t>My project is called </a:t>
            </a:r>
            <a:r>
              <a:rPr lang="en-IL" b="1" dirty="0"/>
              <a:t>“From Pandemic to Inflation: Europe’s Uneven Economic Recovery, 2019–2024.”</a:t>
            </a:r>
            <a:endParaRPr lang="en-IL" dirty="0"/>
          </a:p>
          <a:p>
            <a:r>
              <a:rPr lang="en-IL" dirty="0"/>
              <a:t>I used World Bank data for the 27 EU countries to analyse how countries recovered from the pandemic and the subsequent inflation shock.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dirty="0"/>
              <a:t>The main question was whether European countries recovered in a similar way or whether the shocks increased differences between them.</a:t>
            </a:r>
          </a:p>
          <a:p>
            <a:r>
              <a:rPr lang="en-IL" dirty="0"/>
              <a:t>I focused on four hypotheses.</a:t>
            </a:r>
          </a:p>
          <a:p>
            <a:r>
              <a:rPr lang="en-IL" dirty="0"/>
              <a:t>First, I expected most countries to recover their pre-pandemic GDP levels, but at different speeds.</a:t>
            </a:r>
          </a:p>
          <a:p>
            <a:r>
              <a:rPr lang="en-IL" dirty="0"/>
              <a:t>Second, I tested whether higher inflation in 2022 was associated with weaker GDP growth in 2023.</a:t>
            </a:r>
          </a:p>
          <a:p>
            <a:r>
              <a:rPr lang="en-IL" dirty="0"/>
              <a:t>Third, I examined whether falling inflation between 2022 and 2024 was associated with rising unemployment.</a:t>
            </a:r>
          </a:p>
          <a:p>
            <a:r>
              <a:rPr lang="en-IL" dirty="0"/>
              <a:t>Finally, I looked at whether economic shocks temporarily increased differences between EU countries.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dirty="0"/>
              <a:t>The data comes from the </a:t>
            </a:r>
            <a:r>
              <a:rPr lang="en-IL" b="0" dirty="0"/>
              <a:t>World Bank World Development Indicators.</a:t>
            </a:r>
          </a:p>
          <a:p>
            <a:r>
              <a:rPr lang="en-IL" dirty="0"/>
              <a:t>I selected the 27 EU countries, six years from 2019 to 2024, and three indicators: real GDP growth, inflation, and unemployment.</a:t>
            </a:r>
          </a:p>
          <a:p>
            <a:r>
              <a:rPr lang="en-IL" dirty="0"/>
              <a:t>This resulted in 486 country-indicator-year observations.</a:t>
            </a:r>
          </a:p>
          <a:p>
            <a:r>
              <a:rPr lang="en-IL" dirty="0"/>
              <a:t>For cleaning, I converted the data from wide to long format, standardised the data types, and kept missing economic observations as NULL rather than replacing them artificially.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dirty="0"/>
              <a:t>The database contains three tables.</a:t>
            </a:r>
          </a:p>
          <a:p>
            <a:r>
              <a:rPr lang="en-IL" dirty="0"/>
              <a:t>The </a:t>
            </a:r>
            <a:r>
              <a:rPr lang="en-IL" sz="1200" kern="1200" dirty="0">
                <a:solidFill>
                  <a:schemeClr val="tx1"/>
                </a:solidFill>
                <a:latin typeface="+mn-lt"/>
                <a:ea typeface="+mn-ea"/>
                <a:cs typeface="+mn-cs"/>
              </a:rPr>
              <a:t>countries</a:t>
            </a:r>
            <a:r>
              <a:rPr lang="en-IL" dirty="0"/>
              <a:t> table stores country information, the </a:t>
            </a:r>
            <a:r>
              <a:rPr lang="en-IL" sz="1200" kern="1200" dirty="0">
                <a:solidFill>
                  <a:schemeClr val="tx1"/>
                </a:solidFill>
                <a:latin typeface="+mn-lt"/>
                <a:ea typeface="+mn-ea"/>
                <a:cs typeface="+mn-cs"/>
              </a:rPr>
              <a:t>indicators</a:t>
            </a:r>
            <a:r>
              <a:rPr lang="en-IL" dirty="0"/>
              <a:t> table stores information about each economic indicator, and the </a:t>
            </a:r>
            <a:r>
              <a:rPr lang="en-IL" sz="1200" kern="1200" dirty="0">
                <a:solidFill>
                  <a:schemeClr val="tx1"/>
                </a:solidFill>
                <a:latin typeface="+mn-lt"/>
                <a:ea typeface="+mn-ea"/>
                <a:cs typeface="+mn-cs"/>
              </a:rPr>
              <a:t>observations</a:t>
            </a:r>
            <a:r>
              <a:rPr lang="en-IL" dirty="0"/>
              <a:t> table contains the actual values by country, indicator and year.</a:t>
            </a:r>
          </a:p>
          <a:p>
            <a:r>
              <a:rPr lang="en-IL" dirty="0"/>
              <a:t>The country code and indicator code act as foreign keys in the observations table.</a:t>
            </a:r>
          </a:p>
          <a:p>
            <a:r>
              <a:rPr lang="en-IL" dirty="0"/>
              <a:t>I chose this structure because it avoids repeating the same country and indicator information for every observation and makes the relationships between the data explicit.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dirty="0"/>
              <a:t>One of the more interesting SQL tasks was reconstructing a GDP index with 2019 equal to 100 and then identifying when each country returned to that level.</a:t>
            </a:r>
          </a:p>
          <a:p>
            <a:r>
              <a:rPr lang="en-IL" dirty="0"/>
              <a:t>This allowed me to distinguish between simply saying that a country had recovered by 2024 and identifying the actual year in which it first recovered.</a:t>
            </a:r>
          </a:p>
          <a:p>
            <a:r>
              <a:rPr lang="en-IL" dirty="0"/>
              <a:t>One important lesson was that a database can load successfully while incorrect joins still remove observations. I therefore checked primary keys, foreign keys and row counts before relying on the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dirty="0"/>
              <a:t>The first hypothesis was supported.</a:t>
            </a:r>
          </a:p>
          <a:p>
            <a:r>
              <a:rPr lang="en-IL" dirty="0"/>
              <a:t>Twenty-five of the 27 EU countries experienced a GDP contraction in 2020.</a:t>
            </a:r>
          </a:p>
          <a:p>
            <a:r>
              <a:rPr lang="en-IL" dirty="0"/>
              <a:t>Of these, 17 recovered their 2019 GDP level in 2021 and another eight first recovered in 2022.</a:t>
            </a:r>
          </a:p>
          <a:p>
            <a:r>
              <a:rPr lang="en-IL" dirty="0"/>
              <a:t>By 2024, 24 of the 25 countries that had contracted were at or above their 2019 GDP level.</a:t>
            </a:r>
          </a:p>
          <a:p>
            <a:r>
              <a:rPr lang="en-IL" dirty="0"/>
              <a:t>However, the recovery was very uneven. Some countries grew substantially beyond their 2019 level, while countries such as Germany and Finland remained close to the baseline.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Explain that p-values are above 0.05. Say openly that this hypothesis did not hold statistically.</a:t>
            </a:r>
          </a:p>
          <a:p>
            <a:r>
              <a:rPr lang="en-IL" dirty="0"/>
              <a:t>The second hypothesis was that higher inflation in 2022 would be associated with weaker GDP growth in 2023.</a:t>
            </a:r>
          </a:p>
          <a:p>
            <a:r>
              <a:rPr lang="en-IL" dirty="0"/>
              <a:t>The Pearson correlation was negative, at minus 0.289, but the p-value was 0.1438.</a:t>
            </a:r>
          </a:p>
          <a:p>
            <a:r>
              <a:rPr lang="en-IL" dirty="0"/>
              <a:t>The Spearman correlation was even weaker.</a:t>
            </a:r>
          </a:p>
          <a:p>
            <a:r>
              <a:rPr lang="en-IL" dirty="0"/>
              <a:t>So although the direction was consistent with the hypothesis, the relationship was not statistically significant.</a:t>
            </a:r>
          </a:p>
          <a:p>
            <a:r>
              <a:rPr lang="en-IL" dirty="0"/>
              <a:t>Countries with above-average inflation also had lower average growth, but this comparison was strongly influenced by Malta.</a:t>
            </a:r>
          </a:p>
          <a:p>
            <a:r>
              <a:rPr lang="en-IL" dirty="0"/>
              <a:t>Therefore, this hypothesis was </a:t>
            </a:r>
            <a:r>
              <a:rPr lang="en-IL" b="1" dirty="0"/>
              <a:t>not statistically supported</a:t>
            </a:r>
            <a:r>
              <a:rPr lang="en-IL"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Stress that inflation declined in all countries but unemployment was mixed.</a:t>
            </a:r>
          </a:p>
          <a:p>
            <a:r>
              <a:rPr lang="en-IL" dirty="0"/>
              <a:t>The third hypothesis was that larger reductions in inflation would be associated with greater increases in unemployment.</a:t>
            </a:r>
          </a:p>
          <a:p>
            <a:r>
              <a:rPr lang="en-IL" dirty="0"/>
              <a:t>Inflation declined in every EU country between 2022 and 2024.</a:t>
            </a:r>
          </a:p>
          <a:p>
            <a:r>
              <a:rPr lang="en-IL" dirty="0"/>
              <a:t>However, unemployment increased in 16 countries, decreased in 10, and remained unchanged in one.</a:t>
            </a:r>
          </a:p>
          <a:p>
            <a:r>
              <a:rPr lang="en-IL" dirty="0"/>
              <a:t>The Pearson correlation was minus 0.207 and the Spearman correlation was close to zero. Neither was statistically significant.</a:t>
            </a:r>
          </a:p>
          <a:p>
            <a:r>
              <a:rPr lang="en-IL" dirty="0"/>
              <a:t>So the data does not show a consistent relationship between stronger disinflation and rising unemployment.</a:t>
            </a:r>
          </a:p>
          <a:p>
            <a:r>
              <a:rPr lang="en-IL" dirty="0"/>
              <a:t>This hypothesis was also </a:t>
            </a:r>
            <a:r>
              <a:rPr lang="en-IL" b="1" dirty="0"/>
              <a:t>not statistically supported</a:t>
            </a:r>
            <a:r>
              <a:rPr lang="en-IL" dirty="0"/>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Make the nuance clear: convergence in rates is not convergence in GDP levels or living standards.</a:t>
            </a:r>
          </a:p>
          <a:p>
            <a:r>
              <a:rPr lang="en-IL" dirty="0"/>
              <a:t>The fourth finding concerns differences between countries.</a:t>
            </a:r>
          </a:p>
          <a:p>
            <a:r>
              <a:rPr lang="en-IL" dirty="0"/>
              <a:t>GDP-growth dispersion increased sharply during the pandemic, while inflation dispersion peaked during the inflation shock in 2022.</a:t>
            </a:r>
          </a:p>
          <a:p>
            <a:r>
              <a:rPr lang="en-IL" dirty="0"/>
              <a:t>Both subsequently declined towards their earlier levels.</a:t>
            </a:r>
          </a:p>
          <a:p>
            <a:r>
              <a:rPr lang="en-IL" dirty="0"/>
              <a:t>Unemployment behaved differently: its cross-country variance fell steadily between 2019 and 2024.</a:t>
            </a:r>
          </a:p>
          <a:p>
            <a:r>
              <a:rPr lang="en-IL" dirty="0"/>
              <a:t>So the descriptive hypothesis was supported. Economic shocks temporarily increased differences in GDP growth and inflation, while unemployment rates became more similar across countries.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Close with the main message: the strongest finding is uneven recovery and temporary dispersion, not strong inflation correlations</a:t>
            </a:r>
            <a:r>
              <a:rPr lang="en-US" dirty="0"/>
              <a:t>.</a:t>
            </a:r>
          </a:p>
          <a:p>
            <a:r>
              <a:rPr lang="en-IL" dirty="0"/>
              <a:t>Overall, the main finding is that European economies largely recovered, but they did not follow the same path.</a:t>
            </a:r>
          </a:p>
          <a:p>
            <a:r>
              <a:rPr lang="en-IL" dirty="0"/>
              <a:t>The simple inflation relationships I tested did not hold strongly. Higher inflation did not significantly predict weaker growth, and stronger disinflation did not significantly predict rising unemployment.</a:t>
            </a:r>
          </a:p>
          <a:p>
            <a:r>
              <a:rPr lang="en-IL" dirty="0"/>
              <a:t>There are several limitations. The correlation analysis contains only 27 country observations, correlation does not establish causation, and all countries are weighted equally regardless of economic size.</a:t>
            </a:r>
          </a:p>
          <a:p>
            <a:r>
              <a:rPr lang="en-IL" dirty="0"/>
              <a:t>With more time, I would extend the dataset further back before 2019, add indicators such as GDP per capita and energy exposure, and perform additional robustness tests for influential countries such as Malta and Ireland.</a:t>
            </a:r>
          </a:p>
          <a:p>
            <a:r>
              <a:rPr lang="en-IL" dirty="0"/>
              <a:t>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685800" y="1874520"/>
            <a:ext cx="10607040" cy="566928"/>
          </a:xfrm>
          <a:prstGeom prst="rect">
            <a:avLst/>
          </a:prstGeom>
          <a:noFill/>
          <a:ln/>
        </p:spPr>
        <p:txBody>
          <a:bodyPr wrap="square" lIns="0" tIns="0" rIns="0" bIns="0" rtlCol="0" anchor="ctr"/>
          <a:lstStyle/>
          <a:p>
            <a:pPr marL="0" indent="0">
              <a:buNone/>
            </a:pPr>
            <a:r>
              <a:rPr lang="en-US" sz="3400" b="1" dirty="0">
                <a:solidFill>
                  <a:srgbClr val="FFFFFF"/>
                </a:solidFill>
              </a:rPr>
              <a:t>From Pandemic to Inflation</a:t>
            </a:r>
            <a:endParaRPr lang="en-US" sz="3400" dirty="0"/>
          </a:p>
        </p:txBody>
      </p:sp>
      <p:sp>
        <p:nvSpPr>
          <p:cNvPr id="4" name="Text 2"/>
          <p:cNvSpPr/>
          <p:nvPr/>
        </p:nvSpPr>
        <p:spPr>
          <a:xfrm>
            <a:off x="685800" y="2514600"/>
            <a:ext cx="9875520" cy="420624"/>
          </a:xfrm>
          <a:prstGeom prst="rect">
            <a:avLst/>
          </a:prstGeom>
          <a:noFill/>
          <a:ln/>
        </p:spPr>
        <p:txBody>
          <a:bodyPr wrap="square" lIns="0" tIns="0" rIns="0" bIns="0" rtlCol="0" anchor="ctr"/>
          <a:lstStyle/>
          <a:p>
            <a:pPr marL="0" indent="0">
              <a:buNone/>
            </a:pPr>
            <a:r>
              <a:rPr lang="en-US" sz="2100" dirty="0">
                <a:solidFill>
                  <a:srgbClr val="D8DEE9"/>
                </a:solidFill>
              </a:rPr>
              <a:t>Europe’s Uneven Economic Recovery, 2019–2024</a:t>
            </a:r>
            <a:endParaRPr lang="en-US" sz="2100" dirty="0"/>
          </a:p>
        </p:txBody>
      </p:sp>
      <p:sp>
        <p:nvSpPr>
          <p:cNvPr id="5" name="Text 3"/>
          <p:cNvSpPr/>
          <p:nvPr/>
        </p:nvSpPr>
        <p:spPr>
          <a:xfrm>
            <a:off x="685800" y="3246120"/>
            <a:ext cx="5029200" cy="320040"/>
          </a:xfrm>
          <a:prstGeom prst="rect">
            <a:avLst/>
          </a:prstGeom>
          <a:noFill/>
          <a:ln/>
        </p:spPr>
        <p:txBody>
          <a:bodyPr wrap="square" lIns="0" tIns="0" rIns="0" bIns="0" rtlCol="0" anchor="ctr"/>
          <a:lstStyle/>
          <a:p>
            <a:pPr marL="0" indent="0">
              <a:buNone/>
            </a:pPr>
            <a:r>
              <a:rPr lang="en-US" sz="1400" dirty="0">
                <a:solidFill>
                  <a:srgbClr val="A7B1C2"/>
                </a:solidFill>
              </a:rPr>
              <a:t>Ironhack Project 1 · EDA + SQL</a:t>
            </a:r>
            <a:endParaRPr lang="en-US" sz="1400" dirty="0"/>
          </a:p>
        </p:txBody>
      </p:sp>
      <p:sp>
        <p:nvSpPr>
          <p:cNvPr id="6" name="Text 4"/>
          <p:cNvSpPr/>
          <p:nvPr/>
        </p:nvSpPr>
        <p:spPr>
          <a:xfrm>
            <a:off x="685800" y="6172200"/>
            <a:ext cx="5303520" cy="274320"/>
          </a:xfrm>
          <a:prstGeom prst="rect">
            <a:avLst/>
          </a:prstGeom>
          <a:noFill/>
          <a:ln/>
        </p:spPr>
        <p:txBody>
          <a:bodyPr wrap="square" lIns="0" tIns="0" rIns="0" bIns="0" rtlCol="0" anchor="ctr"/>
          <a:lstStyle/>
          <a:p>
            <a:pPr marL="0" indent="0">
              <a:buNone/>
            </a:pPr>
            <a:r>
              <a:rPr lang="en-US" sz="1300" dirty="0">
                <a:solidFill>
                  <a:srgbClr val="FFFFFF"/>
                </a:solidFill>
              </a:rPr>
              <a:t>Jonathan Weininger</a:t>
            </a:r>
            <a:endParaRPr lang="en-US" sz="1300" dirty="0"/>
          </a:p>
        </p:txBody>
      </p:sp>
      <p:sp>
        <p:nvSpPr>
          <p:cNvPr id="7" name="Shape 5"/>
          <p:cNvSpPr/>
          <p:nvPr/>
        </p:nvSpPr>
        <p:spPr>
          <a:xfrm>
            <a:off x="8229600" y="1463040"/>
            <a:ext cx="100584" cy="100584"/>
          </a:xfrm>
          <a:prstGeom prst="ellipse">
            <a:avLst/>
          </a:prstGeom>
          <a:solidFill>
            <a:srgbClr val="00A6A6">
              <a:alpha val="90000"/>
            </a:srgbClr>
          </a:solidFill>
          <a:ln w="12700">
            <a:solidFill>
              <a:srgbClr val="00A6A6"/>
            </a:solidFill>
            <a:prstDash val="solid"/>
          </a:ln>
        </p:spPr>
        <p:txBody>
          <a:bodyPr/>
          <a:lstStyle/>
          <a:p>
            <a:endParaRPr lang="en-IL"/>
          </a:p>
        </p:txBody>
      </p:sp>
      <p:sp>
        <p:nvSpPr>
          <p:cNvPr id="8" name="Shape 6"/>
          <p:cNvSpPr/>
          <p:nvPr/>
        </p:nvSpPr>
        <p:spPr>
          <a:xfrm>
            <a:off x="8915400" y="1874520"/>
            <a:ext cx="114300" cy="114300"/>
          </a:xfrm>
          <a:prstGeom prst="ellipse">
            <a:avLst/>
          </a:prstGeom>
          <a:solidFill>
            <a:srgbClr val="F2A900">
              <a:alpha val="90000"/>
            </a:srgbClr>
          </a:solidFill>
          <a:ln w="12700">
            <a:solidFill>
              <a:srgbClr val="F2A900"/>
            </a:solidFill>
            <a:prstDash val="solid"/>
          </a:ln>
        </p:spPr>
        <p:txBody>
          <a:bodyPr/>
          <a:lstStyle/>
          <a:p>
            <a:endParaRPr lang="en-IL"/>
          </a:p>
        </p:txBody>
      </p:sp>
      <p:sp>
        <p:nvSpPr>
          <p:cNvPr id="9" name="Shape 7"/>
          <p:cNvSpPr/>
          <p:nvPr/>
        </p:nvSpPr>
        <p:spPr>
          <a:xfrm>
            <a:off x="9601200" y="2286000"/>
            <a:ext cx="128016" cy="128016"/>
          </a:xfrm>
          <a:prstGeom prst="ellipse">
            <a:avLst/>
          </a:prstGeom>
          <a:solidFill>
            <a:srgbClr val="00A6A6">
              <a:alpha val="90000"/>
            </a:srgbClr>
          </a:solidFill>
          <a:ln w="12700">
            <a:solidFill>
              <a:srgbClr val="00A6A6"/>
            </a:solidFill>
            <a:prstDash val="solid"/>
          </a:ln>
        </p:spPr>
        <p:txBody>
          <a:bodyPr/>
          <a:lstStyle/>
          <a:p>
            <a:endParaRPr lang="en-IL"/>
          </a:p>
        </p:txBody>
      </p:sp>
      <p:sp>
        <p:nvSpPr>
          <p:cNvPr id="10" name="Shape 8"/>
          <p:cNvSpPr/>
          <p:nvPr/>
        </p:nvSpPr>
        <p:spPr>
          <a:xfrm>
            <a:off x="8229600" y="2697480"/>
            <a:ext cx="141732" cy="141732"/>
          </a:xfrm>
          <a:prstGeom prst="ellipse">
            <a:avLst/>
          </a:prstGeom>
          <a:solidFill>
            <a:srgbClr val="F2A900">
              <a:alpha val="90000"/>
            </a:srgbClr>
          </a:solidFill>
          <a:ln w="12700">
            <a:solidFill>
              <a:srgbClr val="F2A900"/>
            </a:solidFill>
            <a:prstDash val="solid"/>
          </a:ln>
        </p:spPr>
        <p:txBody>
          <a:bodyPr/>
          <a:lstStyle/>
          <a:p>
            <a:endParaRPr lang="en-IL"/>
          </a:p>
        </p:txBody>
      </p:sp>
      <p:sp>
        <p:nvSpPr>
          <p:cNvPr id="11" name="Shape 9"/>
          <p:cNvSpPr/>
          <p:nvPr/>
        </p:nvSpPr>
        <p:spPr>
          <a:xfrm>
            <a:off x="8915400" y="3108960"/>
            <a:ext cx="155448" cy="155448"/>
          </a:xfrm>
          <a:prstGeom prst="ellipse">
            <a:avLst/>
          </a:prstGeom>
          <a:solidFill>
            <a:srgbClr val="00A6A6">
              <a:alpha val="90000"/>
            </a:srgbClr>
          </a:solidFill>
          <a:ln w="12700">
            <a:solidFill>
              <a:srgbClr val="00A6A6"/>
            </a:solidFill>
            <a:prstDash val="solid"/>
          </a:ln>
        </p:spPr>
        <p:txBody>
          <a:bodyPr/>
          <a:lstStyle/>
          <a:p>
            <a:endParaRPr lang="en-IL"/>
          </a:p>
        </p:txBody>
      </p:sp>
      <p:sp>
        <p:nvSpPr>
          <p:cNvPr id="12" name="Shape 10"/>
          <p:cNvSpPr/>
          <p:nvPr/>
        </p:nvSpPr>
        <p:spPr>
          <a:xfrm>
            <a:off x="9601200" y="3520440"/>
            <a:ext cx="169164" cy="169164"/>
          </a:xfrm>
          <a:prstGeom prst="ellipse">
            <a:avLst/>
          </a:prstGeom>
          <a:solidFill>
            <a:srgbClr val="F2A900">
              <a:alpha val="90000"/>
            </a:srgbClr>
          </a:solidFill>
          <a:ln w="12700">
            <a:solidFill>
              <a:srgbClr val="F2A900"/>
            </a:solidFill>
            <a:prstDash val="solid"/>
          </a:ln>
        </p:spPr>
        <p:txBody>
          <a:bodyPr/>
          <a:lstStyle/>
          <a:p>
            <a:endParaRPr lang="en-IL"/>
          </a:p>
        </p:txBody>
      </p:sp>
      <p:sp>
        <p:nvSpPr>
          <p:cNvPr id="13" name="Shape 11"/>
          <p:cNvSpPr/>
          <p:nvPr/>
        </p:nvSpPr>
        <p:spPr>
          <a:xfrm>
            <a:off x="8229600" y="3931920"/>
            <a:ext cx="182880" cy="182880"/>
          </a:xfrm>
          <a:prstGeom prst="ellipse">
            <a:avLst/>
          </a:prstGeom>
          <a:solidFill>
            <a:srgbClr val="00A6A6">
              <a:alpha val="90000"/>
            </a:srgbClr>
          </a:solidFill>
          <a:ln w="12700">
            <a:solidFill>
              <a:srgbClr val="00A6A6"/>
            </a:solidFill>
            <a:prstDash val="solid"/>
          </a:ln>
        </p:spPr>
        <p:txBody>
          <a:bodyPr/>
          <a:lstStyle/>
          <a:p>
            <a:endParaRPr lang="en-I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The question: did Europe recover evenly?</a:t>
            </a:r>
            <a:endParaRPr lang="en-US" sz="270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2/10</a:t>
            </a:r>
            <a:endParaRPr lang="en-US" sz="850" dirty="0"/>
          </a:p>
        </p:txBody>
      </p:sp>
      <p:sp>
        <p:nvSpPr>
          <p:cNvPr id="7" name="Text 5"/>
          <p:cNvSpPr/>
          <p:nvPr/>
        </p:nvSpPr>
        <p:spPr>
          <a:xfrm>
            <a:off x="640080" y="1325880"/>
            <a:ext cx="4023360" cy="274320"/>
          </a:xfrm>
          <a:prstGeom prst="rect">
            <a:avLst/>
          </a:prstGeom>
          <a:noFill/>
          <a:ln/>
        </p:spPr>
        <p:txBody>
          <a:bodyPr wrap="square" lIns="0" tIns="0" rIns="0" bIns="0" rtlCol="0" anchor="ctr"/>
          <a:lstStyle/>
          <a:p>
            <a:pPr marL="0" indent="0">
              <a:buNone/>
            </a:pPr>
            <a:r>
              <a:rPr lang="en-US" sz="2000" b="1" dirty="0">
                <a:solidFill>
                  <a:srgbClr val="0B1F3A"/>
                </a:solidFill>
              </a:rPr>
              <a:t>Analytical problem</a:t>
            </a:r>
            <a:endParaRPr lang="en-US" sz="2000" dirty="0"/>
          </a:p>
        </p:txBody>
      </p:sp>
      <p:sp>
        <p:nvSpPr>
          <p:cNvPr id="8" name="Text 6"/>
          <p:cNvSpPr/>
          <p:nvPr/>
        </p:nvSpPr>
        <p:spPr>
          <a:xfrm>
            <a:off x="640080" y="1834896"/>
            <a:ext cx="4389120" cy="1188720"/>
          </a:xfrm>
          <a:prstGeom prst="rect">
            <a:avLst/>
          </a:prstGeom>
          <a:noFill/>
          <a:ln/>
        </p:spPr>
        <p:txBody>
          <a:bodyPr wrap="square" lIns="0" tIns="0" rIns="0" bIns="0" rtlCol="0" anchor="ctr">
            <a:normAutofit/>
          </a:bodyPr>
          <a:lstStyle/>
          <a:p>
            <a:pPr marL="0" indent="0">
              <a:buNone/>
            </a:pPr>
            <a:r>
              <a:rPr lang="en-US" dirty="0">
                <a:solidFill>
                  <a:srgbClr val="111827"/>
                </a:solidFill>
              </a:rPr>
              <a:t>Averages hide whether economic shocks hit countries in similar ways. The goal was to compare recovery, not just report EU-wide trends.</a:t>
            </a:r>
            <a:endParaRPr lang="en-US" dirty="0"/>
          </a:p>
        </p:txBody>
      </p:sp>
      <p:sp>
        <p:nvSpPr>
          <p:cNvPr id="9" name="Shape 7"/>
          <p:cNvSpPr/>
          <p:nvPr/>
        </p:nvSpPr>
        <p:spPr>
          <a:xfrm>
            <a:off x="914400" y="4526280"/>
            <a:ext cx="9875520" cy="0"/>
          </a:xfrm>
          <a:prstGeom prst="line">
            <a:avLst/>
          </a:prstGeom>
          <a:noFill/>
          <a:ln w="25400">
            <a:solidFill>
              <a:srgbClr val="D9DEE8"/>
            </a:solidFill>
            <a:prstDash val="solid"/>
          </a:ln>
        </p:spPr>
        <p:txBody>
          <a:bodyPr/>
          <a:lstStyle/>
          <a:p>
            <a:endParaRPr lang="en-IL"/>
          </a:p>
        </p:txBody>
      </p:sp>
      <p:sp>
        <p:nvSpPr>
          <p:cNvPr id="10" name="Shape 8"/>
          <p:cNvSpPr/>
          <p:nvPr/>
        </p:nvSpPr>
        <p:spPr>
          <a:xfrm>
            <a:off x="804672" y="4416552"/>
            <a:ext cx="219456" cy="219456"/>
          </a:xfrm>
          <a:prstGeom prst="ellipse">
            <a:avLst/>
          </a:prstGeom>
          <a:solidFill>
            <a:srgbClr val="0B1F3A"/>
          </a:solidFill>
          <a:ln w="12700">
            <a:solidFill>
              <a:srgbClr val="0B1F3A"/>
            </a:solidFill>
            <a:prstDash val="solid"/>
          </a:ln>
        </p:spPr>
        <p:txBody>
          <a:bodyPr/>
          <a:lstStyle/>
          <a:p>
            <a:endParaRPr lang="en-IL"/>
          </a:p>
        </p:txBody>
      </p:sp>
      <p:sp>
        <p:nvSpPr>
          <p:cNvPr id="11" name="Text 9"/>
          <p:cNvSpPr/>
          <p:nvPr/>
        </p:nvSpPr>
        <p:spPr>
          <a:xfrm>
            <a:off x="530352" y="4736592"/>
            <a:ext cx="777240" cy="228600"/>
          </a:xfrm>
          <a:prstGeom prst="rect">
            <a:avLst/>
          </a:prstGeom>
          <a:noFill/>
          <a:ln/>
        </p:spPr>
        <p:txBody>
          <a:bodyPr wrap="square" lIns="0" tIns="0" rIns="0" bIns="0" rtlCol="0" anchor="ctr"/>
          <a:lstStyle/>
          <a:p>
            <a:pPr marL="0" indent="0" algn="ctr">
              <a:buNone/>
            </a:pPr>
            <a:r>
              <a:rPr lang="en-US" sz="1600" b="1" dirty="0">
                <a:solidFill>
                  <a:srgbClr val="0B1F3A"/>
                </a:solidFill>
              </a:rPr>
              <a:t>2019</a:t>
            </a:r>
            <a:endParaRPr lang="en-US" sz="1600" dirty="0"/>
          </a:p>
        </p:txBody>
      </p:sp>
      <p:sp>
        <p:nvSpPr>
          <p:cNvPr id="12" name="Text 10"/>
          <p:cNvSpPr/>
          <p:nvPr/>
        </p:nvSpPr>
        <p:spPr>
          <a:xfrm>
            <a:off x="182880" y="5029200"/>
            <a:ext cx="1463040" cy="228600"/>
          </a:xfrm>
          <a:prstGeom prst="rect">
            <a:avLst/>
          </a:prstGeom>
          <a:noFill/>
          <a:ln/>
        </p:spPr>
        <p:txBody>
          <a:bodyPr wrap="square" lIns="0" tIns="0" rIns="0" bIns="0" rtlCol="0" anchor="ctr"/>
          <a:lstStyle/>
          <a:p>
            <a:pPr marL="0" indent="0" algn="ctr">
              <a:buNone/>
            </a:pPr>
            <a:r>
              <a:rPr lang="en-US" sz="1400" dirty="0">
                <a:solidFill>
                  <a:srgbClr val="6B7280"/>
                </a:solidFill>
              </a:rPr>
              <a:t>Baseline</a:t>
            </a:r>
            <a:endParaRPr lang="en-US" sz="1000" dirty="0"/>
          </a:p>
        </p:txBody>
      </p:sp>
      <p:sp>
        <p:nvSpPr>
          <p:cNvPr id="13" name="Shape 11"/>
          <p:cNvSpPr/>
          <p:nvPr/>
        </p:nvSpPr>
        <p:spPr>
          <a:xfrm>
            <a:off x="3364992" y="4416552"/>
            <a:ext cx="219456" cy="219456"/>
          </a:xfrm>
          <a:prstGeom prst="ellipse">
            <a:avLst/>
          </a:prstGeom>
          <a:solidFill>
            <a:srgbClr val="D1495B"/>
          </a:solidFill>
          <a:ln w="12700">
            <a:solidFill>
              <a:srgbClr val="D1495B"/>
            </a:solidFill>
            <a:prstDash val="solid"/>
          </a:ln>
        </p:spPr>
        <p:txBody>
          <a:bodyPr/>
          <a:lstStyle/>
          <a:p>
            <a:endParaRPr lang="en-IL"/>
          </a:p>
        </p:txBody>
      </p:sp>
      <p:sp>
        <p:nvSpPr>
          <p:cNvPr id="14" name="Text 12"/>
          <p:cNvSpPr/>
          <p:nvPr/>
        </p:nvSpPr>
        <p:spPr>
          <a:xfrm>
            <a:off x="3090672" y="4736592"/>
            <a:ext cx="777240" cy="228600"/>
          </a:xfrm>
          <a:prstGeom prst="rect">
            <a:avLst/>
          </a:prstGeom>
          <a:noFill/>
          <a:ln/>
        </p:spPr>
        <p:txBody>
          <a:bodyPr wrap="square" lIns="0" tIns="0" rIns="0" bIns="0" rtlCol="0" anchor="ctr"/>
          <a:lstStyle/>
          <a:p>
            <a:pPr marL="0" indent="0" algn="ctr">
              <a:buNone/>
            </a:pPr>
            <a:r>
              <a:rPr lang="en-US" sz="1600" b="1" dirty="0">
                <a:solidFill>
                  <a:srgbClr val="0B1F3A"/>
                </a:solidFill>
              </a:rPr>
              <a:t>2020</a:t>
            </a:r>
            <a:endParaRPr lang="en-US" sz="1600" dirty="0"/>
          </a:p>
        </p:txBody>
      </p:sp>
      <p:sp>
        <p:nvSpPr>
          <p:cNvPr id="15" name="Text 13"/>
          <p:cNvSpPr/>
          <p:nvPr/>
        </p:nvSpPr>
        <p:spPr>
          <a:xfrm>
            <a:off x="2743200" y="5029200"/>
            <a:ext cx="1463040" cy="228600"/>
          </a:xfrm>
          <a:prstGeom prst="rect">
            <a:avLst/>
          </a:prstGeom>
          <a:noFill/>
          <a:ln/>
        </p:spPr>
        <p:txBody>
          <a:bodyPr wrap="square" lIns="0" tIns="0" rIns="0" bIns="0" rtlCol="0" anchor="ctr"/>
          <a:lstStyle/>
          <a:p>
            <a:pPr marL="0" indent="0" algn="ctr">
              <a:buNone/>
            </a:pPr>
            <a:r>
              <a:rPr lang="en-US" sz="1400" dirty="0">
                <a:solidFill>
                  <a:srgbClr val="6B7280"/>
                </a:solidFill>
              </a:rPr>
              <a:t>Pandemic shock</a:t>
            </a:r>
            <a:endParaRPr lang="en-US" sz="1400" dirty="0"/>
          </a:p>
        </p:txBody>
      </p:sp>
      <p:sp>
        <p:nvSpPr>
          <p:cNvPr id="16" name="Shape 14"/>
          <p:cNvSpPr/>
          <p:nvPr/>
        </p:nvSpPr>
        <p:spPr>
          <a:xfrm>
            <a:off x="6016752" y="4416552"/>
            <a:ext cx="219456" cy="219456"/>
          </a:xfrm>
          <a:prstGeom prst="ellipse">
            <a:avLst/>
          </a:prstGeom>
          <a:solidFill>
            <a:srgbClr val="F2A900"/>
          </a:solidFill>
          <a:ln w="12700">
            <a:solidFill>
              <a:srgbClr val="F2A900"/>
            </a:solidFill>
            <a:prstDash val="solid"/>
          </a:ln>
        </p:spPr>
        <p:txBody>
          <a:bodyPr/>
          <a:lstStyle/>
          <a:p>
            <a:endParaRPr lang="en-IL"/>
          </a:p>
        </p:txBody>
      </p:sp>
      <p:sp>
        <p:nvSpPr>
          <p:cNvPr id="17" name="Text 15"/>
          <p:cNvSpPr/>
          <p:nvPr/>
        </p:nvSpPr>
        <p:spPr>
          <a:xfrm>
            <a:off x="5742432" y="4736592"/>
            <a:ext cx="777240" cy="228600"/>
          </a:xfrm>
          <a:prstGeom prst="rect">
            <a:avLst/>
          </a:prstGeom>
          <a:noFill/>
          <a:ln/>
        </p:spPr>
        <p:txBody>
          <a:bodyPr wrap="square" lIns="0" tIns="0" rIns="0" bIns="0" rtlCol="0" anchor="ctr"/>
          <a:lstStyle/>
          <a:p>
            <a:pPr marL="0" indent="0" algn="ctr">
              <a:buNone/>
            </a:pPr>
            <a:r>
              <a:rPr lang="en-US" sz="1600" b="1" dirty="0">
                <a:solidFill>
                  <a:srgbClr val="0B1F3A"/>
                </a:solidFill>
              </a:rPr>
              <a:t>2022</a:t>
            </a:r>
            <a:endParaRPr lang="en-US" sz="1600" dirty="0"/>
          </a:p>
        </p:txBody>
      </p:sp>
      <p:sp>
        <p:nvSpPr>
          <p:cNvPr id="18" name="Text 16"/>
          <p:cNvSpPr/>
          <p:nvPr/>
        </p:nvSpPr>
        <p:spPr>
          <a:xfrm>
            <a:off x="5394960" y="5029200"/>
            <a:ext cx="1463040" cy="228600"/>
          </a:xfrm>
          <a:prstGeom prst="rect">
            <a:avLst/>
          </a:prstGeom>
          <a:noFill/>
          <a:ln/>
        </p:spPr>
        <p:txBody>
          <a:bodyPr wrap="square" lIns="0" tIns="0" rIns="0" bIns="0" rtlCol="0" anchor="ctr"/>
          <a:lstStyle/>
          <a:p>
            <a:pPr marL="0" indent="0" algn="ctr">
              <a:buNone/>
            </a:pPr>
            <a:r>
              <a:rPr lang="en-US" sz="1400" dirty="0">
                <a:solidFill>
                  <a:srgbClr val="6B7280"/>
                </a:solidFill>
              </a:rPr>
              <a:t>Inflation shock</a:t>
            </a:r>
            <a:endParaRPr lang="en-US" sz="1400" dirty="0"/>
          </a:p>
        </p:txBody>
      </p:sp>
      <p:sp>
        <p:nvSpPr>
          <p:cNvPr id="19" name="Shape 17"/>
          <p:cNvSpPr/>
          <p:nvPr/>
        </p:nvSpPr>
        <p:spPr>
          <a:xfrm>
            <a:off x="9125712" y="4416552"/>
            <a:ext cx="219456" cy="219456"/>
          </a:xfrm>
          <a:prstGeom prst="ellipse">
            <a:avLst/>
          </a:prstGeom>
          <a:solidFill>
            <a:srgbClr val="00A6A6"/>
          </a:solidFill>
          <a:ln w="12700">
            <a:solidFill>
              <a:srgbClr val="00A6A6"/>
            </a:solidFill>
            <a:prstDash val="solid"/>
          </a:ln>
        </p:spPr>
        <p:txBody>
          <a:bodyPr/>
          <a:lstStyle/>
          <a:p>
            <a:endParaRPr lang="en-IL"/>
          </a:p>
        </p:txBody>
      </p:sp>
      <p:sp>
        <p:nvSpPr>
          <p:cNvPr id="20" name="Text 18"/>
          <p:cNvSpPr/>
          <p:nvPr/>
        </p:nvSpPr>
        <p:spPr>
          <a:xfrm>
            <a:off x="8851392" y="4736592"/>
            <a:ext cx="777240" cy="228600"/>
          </a:xfrm>
          <a:prstGeom prst="rect">
            <a:avLst/>
          </a:prstGeom>
          <a:noFill/>
          <a:ln/>
        </p:spPr>
        <p:txBody>
          <a:bodyPr wrap="square" lIns="0" tIns="0" rIns="0" bIns="0" rtlCol="0" anchor="ctr"/>
          <a:lstStyle/>
          <a:p>
            <a:pPr marL="0" indent="0" algn="ctr">
              <a:buNone/>
            </a:pPr>
            <a:r>
              <a:rPr lang="en-US" sz="1600" b="1" dirty="0">
                <a:solidFill>
                  <a:srgbClr val="0B1F3A"/>
                </a:solidFill>
              </a:rPr>
              <a:t>2024</a:t>
            </a:r>
            <a:endParaRPr lang="en-US" sz="1600" dirty="0"/>
          </a:p>
        </p:txBody>
      </p:sp>
      <p:sp>
        <p:nvSpPr>
          <p:cNvPr id="21" name="Text 19"/>
          <p:cNvSpPr/>
          <p:nvPr/>
        </p:nvSpPr>
        <p:spPr>
          <a:xfrm>
            <a:off x="8503920" y="5029200"/>
            <a:ext cx="1463040" cy="228600"/>
          </a:xfrm>
          <a:prstGeom prst="rect">
            <a:avLst/>
          </a:prstGeom>
          <a:noFill/>
          <a:ln/>
        </p:spPr>
        <p:txBody>
          <a:bodyPr wrap="square" lIns="0" tIns="0" rIns="0" bIns="0" rtlCol="0" anchor="ctr"/>
          <a:lstStyle/>
          <a:p>
            <a:pPr marL="0" indent="0" algn="ctr">
              <a:buNone/>
            </a:pPr>
            <a:r>
              <a:rPr lang="en-US" sz="1400" dirty="0">
                <a:solidFill>
                  <a:srgbClr val="6B7280"/>
                </a:solidFill>
              </a:rPr>
              <a:t>Recovery check</a:t>
            </a:r>
            <a:endParaRPr lang="en-US" sz="1400" dirty="0"/>
          </a:p>
        </p:txBody>
      </p:sp>
      <p:sp>
        <p:nvSpPr>
          <p:cNvPr id="22" name="Text 20"/>
          <p:cNvSpPr/>
          <p:nvPr/>
        </p:nvSpPr>
        <p:spPr>
          <a:xfrm>
            <a:off x="5715000" y="1325880"/>
            <a:ext cx="5029200" cy="274320"/>
          </a:xfrm>
          <a:prstGeom prst="rect">
            <a:avLst/>
          </a:prstGeom>
          <a:noFill/>
          <a:ln/>
        </p:spPr>
        <p:txBody>
          <a:bodyPr wrap="square" lIns="0" tIns="0" rIns="0" bIns="0" rtlCol="0" anchor="ctr"/>
          <a:lstStyle/>
          <a:p>
            <a:pPr marL="0" indent="0">
              <a:buNone/>
            </a:pPr>
            <a:r>
              <a:rPr lang="en-US" sz="2000" b="1" dirty="0">
                <a:solidFill>
                  <a:srgbClr val="0B1F3A"/>
                </a:solidFill>
              </a:rPr>
              <a:t>Guiding hypotheses</a:t>
            </a:r>
            <a:endParaRPr lang="en-US" sz="2000" dirty="0"/>
          </a:p>
        </p:txBody>
      </p:sp>
      <p:sp>
        <p:nvSpPr>
          <p:cNvPr id="23" name="Text 21"/>
          <p:cNvSpPr/>
          <p:nvPr/>
        </p:nvSpPr>
        <p:spPr>
          <a:xfrm>
            <a:off x="5715000" y="1823172"/>
            <a:ext cx="5394960" cy="1188720"/>
          </a:xfrm>
          <a:prstGeom prst="rect">
            <a:avLst/>
          </a:prstGeom>
          <a:noFill/>
          <a:ln/>
        </p:spPr>
        <p:txBody>
          <a:bodyPr wrap="square" lIns="254" tIns="254" rIns="254" bIns="254" rtlCol="0" anchor="ctr">
            <a:normAutofit/>
          </a:bodyPr>
          <a:lstStyle/>
          <a:p>
            <a:r>
              <a:rPr lang="en-US" dirty="0">
                <a:solidFill>
                  <a:srgbClr val="111827"/>
                </a:solidFill>
              </a:rPr>
              <a:t>Most countries recovered, but not at the same speed.</a:t>
            </a:r>
            <a:endParaRPr lang="en-US" dirty="0"/>
          </a:p>
          <a:p>
            <a:r>
              <a:rPr lang="en-US" dirty="0">
                <a:solidFill>
                  <a:srgbClr val="111827"/>
                </a:solidFill>
              </a:rPr>
              <a:t>Higher 2022 inflation may predict weaker 2023 growth.</a:t>
            </a:r>
            <a:endParaRPr lang="en-US" dirty="0"/>
          </a:p>
          <a:p>
            <a:r>
              <a:rPr lang="en-US" dirty="0">
                <a:solidFill>
                  <a:srgbClr val="111827"/>
                </a:solidFill>
              </a:rPr>
              <a:t>Disinflation may coincide with rising unemployment.</a:t>
            </a:r>
            <a:endParaRPr lang="en-US" dirty="0"/>
          </a:p>
          <a:p>
            <a:r>
              <a:rPr lang="en-US" dirty="0">
                <a:solidFill>
                  <a:srgbClr val="111827"/>
                </a:solidFill>
              </a:rPr>
              <a:t>Shocks may widen economic differences temporarily.</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The data: a focused World Bank sample</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r>
              <a:rPr lang="en-US" sz="1220" dirty="0">
                <a:solidFill>
                  <a:srgbClr val="6B7280"/>
                </a:solidFill>
              </a:rPr>
              <a:t>World Development Indicators, filtered to EU-27, three indicators and six years.</a:t>
            </a: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3/10</a:t>
            </a:r>
            <a:endParaRPr lang="en-US" sz="850" dirty="0"/>
          </a:p>
        </p:txBody>
      </p:sp>
      <p:sp>
        <p:nvSpPr>
          <p:cNvPr id="7" name="Text 5"/>
          <p:cNvSpPr/>
          <p:nvPr/>
        </p:nvSpPr>
        <p:spPr>
          <a:xfrm>
            <a:off x="594360" y="1417320"/>
            <a:ext cx="1828800" cy="530352"/>
          </a:xfrm>
          <a:prstGeom prst="rect">
            <a:avLst/>
          </a:prstGeom>
          <a:noFill/>
          <a:ln/>
        </p:spPr>
        <p:txBody>
          <a:bodyPr wrap="square" lIns="0" tIns="0" rIns="0" bIns="0" rtlCol="0" anchor="ctr"/>
          <a:lstStyle/>
          <a:p>
            <a:pPr marL="0" indent="0" algn="ctr">
              <a:buNone/>
            </a:pPr>
            <a:r>
              <a:rPr lang="en-US" sz="3000" b="1" dirty="0">
                <a:solidFill>
                  <a:srgbClr val="0B1F3A"/>
                </a:solidFill>
              </a:rPr>
              <a:t>27</a:t>
            </a:r>
            <a:endParaRPr lang="en-US" sz="3000" dirty="0"/>
          </a:p>
        </p:txBody>
      </p:sp>
      <p:sp>
        <p:nvSpPr>
          <p:cNvPr id="8" name="Text 6"/>
          <p:cNvSpPr/>
          <p:nvPr/>
        </p:nvSpPr>
        <p:spPr>
          <a:xfrm>
            <a:off x="594360" y="1947672"/>
            <a:ext cx="1828800" cy="384048"/>
          </a:xfrm>
          <a:prstGeom prst="rect">
            <a:avLst/>
          </a:prstGeom>
          <a:noFill/>
          <a:ln/>
        </p:spPr>
        <p:txBody>
          <a:bodyPr wrap="square" lIns="0" tIns="0" rIns="0" bIns="0" rtlCol="0" anchor="ctr">
            <a:normAutofit/>
          </a:bodyPr>
          <a:lstStyle/>
          <a:p>
            <a:pPr marL="0" indent="0" algn="ctr">
              <a:buNone/>
            </a:pPr>
            <a:r>
              <a:rPr lang="en-US" sz="1200" dirty="0">
                <a:solidFill>
                  <a:srgbClr val="6B7280"/>
                </a:solidFill>
              </a:rPr>
              <a:t>EU countries</a:t>
            </a:r>
            <a:endParaRPr lang="en-US" sz="1200" dirty="0"/>
          </a:p>
        </p:txBody>
      </p:sp>
      <p:sp>
        <p:nvSpPr>
          <p:cNvPr id="9" name="Text 7"/>
          <p:cNvSpPr/>
          <p:nvPr/>
        </p:nvSpPr>
        <p:spPr>
          <a:xfrm>
            <a:off x="2788920" y="1417320"/>
            <a:ext cx="1828800" cy="530352"/>
          </a:xfrm>
          <a:prstGeom prst="rect">
            <a:avLst/>
          </a:prstGeom>
          <a:noFill/>
          <a:ln/>
        </p:spPr>
        <p:txBody>
          <a:bodyPr wrap="square" lIns="0" tIns="0" rIns="0" bIns="0" rtlCol="0" anchor="ctr"/>
          <a:lstStyle/>
          <a:p>
            <a:pPr marL="0" indent="0" algn="ctr">
              <a:buNone/>
            </a:pPr>
            <a:r>
              <a:rPr lang="en-US" sz="3000" b="1" dirty="0">
                <a:solidFill>
                  <a:srgbClr val="0B1F3A"/>
                </a:solidFill>
              </a:rPr>
              <a:t>3</a:t>
            </a:r>
            <a:endParaRPr lang="en-US" sz="3000" dirty="0"/>
          </a:p>
        </p:txBody>
      </p:sp>
      <p:sp>
        <p:nvSpPr>
          <p:cNvPr id="10" name="Text 8"/>
          <p:cNvSpPr/>
          <p:nvPr/>
        </p:nvSpPr>
        <p:spPr>
          <a:xfrm>
            <a:off x="2788920" y="1947672"/>
            <a:ext cx="1828800" cy="384048"/>
          </a:xfrm>
          <a:prstGeom prst="rect">
            <a:avLst/>
          </a:prstGeom>
          <a:noFill/>
          <a:ln/>
        </p:spPr>
        <p:txBody>
          <a:bodyPr wrap="square" lIns="0" tIns="0" rIns="0" bIns="0" rtlCol="0" anchor="ctr">
            <a:normAutofit/>
          </a:bodyPr>
          <a:lstStyle/>
          <a:p>
            <a:pPr marL="0" indent="0" algn="ctr">
              <a:buNone/>
            </a:pPr>
            <a:r>
              <a:rPr lang="en-US" sz="1200" dirty="0">
                <a:solidFill>
                  <a:srgbClr val="6B7280"/>
                </a:solidFill>
              </a:rPr>
              <a:t>indicators</a:t>
            </a:r>
            <a:endParaRPr lang="en-US" sz="1200" dirty="0"/>
          </a:p>
        </p:txBody>
      </p:sp>
      <p:sp>
        <p:nvSpPr>
          <p:cNvPr id="11" name="Text 9"/>
          <p:cNvSpPr/>
          <p:nvPr/>
        </p:nvSpPr>
        <p:spPr>
          <a:xfrm>
            <a:off x="4983480" y="1417320"/>
            <a:ext cx="1828800" cy="530352"/>
          </a:xfrm>
          <a:prstGeom prst="rect">
            <a:avLst/>
          </a:prstGeom>
          <a:noFill/>
          <a:ln/>
        </p:spPr>
        <p:txBody>
          <a:bodyPr wrap="square" lIns="0" tIns="0" rIns="0" bIns="0" rtlCol="0" anchor="ctr"/>
          <a:lstStyle/>
          <a:p>
            <a:pPr marL="0" indent="0" algn="ctr">
              <a:buNone/>
            </a:pPr>
            <a:r>
              <a:rPr lang="en-US" sz="3000" b="1" dirty="0">
                <a:solidFill>
                  <a:srgbClr val="0B1F3A"/>
                </a:solidFill>
              </a:rPr>
              <a:t>6</a:t>
            </a:r>
            <a:endParaRPr lang="en-US" sz="3000" dirty="0"/>
          </a:p>
        </p:txBody>
      </p:sp>
      <p:sp>
        <p:nvSpPr>
          <p:cNvPr id="12" name="Text 10"/>
          <p:cNvSpPr/>
          <p:nvPr/>
        </p:nvSpPr>
        <p:spPr>
          <a:xfrm>
            <a:off x="4983480" y="1947672"/>
            <a:ext cx="1828800" cy="384048"/>
          </a:xfrm>
          <a:prstGeom prst="rect">
            <a:avLst/>
          </a:prstGeom>
          <a:noFill/>
          <a:ln/>
        </p:spPr>
        <p:txBody>
          <a:bodyPr wrap="square" lIns="0" tIns="0" rIns="0" bIns="0" rtlCol="0" anchor="ctr">
            <a:normAutofit/>
          </a:bodyPr>
          <a:lstStyle/>
          <a:p>
            <a:pPr marL="0" indent="0" algn="ctr">
              <a:buNone/>
            </a:pPr>
            <a:r>
              <a:rPr lang="en-US" sz="1200" dirty="0">
                <a:solidFill>
                  <a:srgbClr val="6B7280"/>
                </a:solidFill>
              </a:rPr>
              <a:t>years</a:t>
            </a:r>
            <a:endParaRPr lang="en-US" sz="1050" dirty="0"/>
          </a:p>
        </p:txBody>
      </p:sp>
      <p:sp>
        <p:nvSpPr>
          <p:cNvPr id="13" name="Text 11"/>
          <p:cNvSpPr/>
          <p:nvPr/>
        </p:nvSpPr>
        <p:spPr>
          <a:xfrm>
            <a:off x="7178040" y="1417320"/>
            <a:ext cx="2560320" cy="530352"/>
          </a:xfrm>
          <a:prstGeom prst="rect">
            <a:avLst/>
          </a:prstGeom>
          <a:noFill/>
          <a:ln/>
        </p:spPr>
        <p:txBody>
          <a:bodyPr wrap="square" lIns="0" tIns="0" rIns="0" bIns="0" rtlCol="0" anchor="ctr"/>
          <a:lstStyle/>
          <a:p>
            <a:pPr marL="0" indent="0" algn="ctr">
              <a:buNone/>
            </a:pPr>
            <a:r>
              <a:rPr lang="en-US" sz="3000" b="1" dirty="0">
                <a:solidFill>
                  <a:srgbClr val="0B1F3A"/>
                </a:solidFill>
              </a:rPr>
              <a:t>486</a:t>
            </a:r>
            <a:endParaRPr lang="en-US" sz="3000" dirty="0"/>
          </a:p>
        </p:txBody>
      </p:sp>
      <p:sp>
        <p:nvSpPr>
          <p:cNvPr id="14" name="Text 12"/>
          <p:cNvSpPr/>
          <p:nvPr/>
        </p:nvSpPr>
        <p:spPr>
          <a:xfrm>
            <a:off x="7178040" y="1947672"/>
            <a:ext cx="2560320" cy="384048"/>
          </a:xfrm>
          <a:prstGeom prst="rect">
            <a:avLst/>
          </a:prstGeom>
          <a:noFill/>
          <a:ln/>
        </p:spPr>
        <p:txBody>
          <a:bodyPr wrap="square" lIns="0" tIns="0" rIns="0" bIns="0" rtlCol="0" anchor="ctr">
            <a:normAutofit/>
          </a:bodyPr>
          <a:lstStyle/>
          <a:p>
            <a:pPr marL="0" indent="0" algn="ctr">
              <a:buNone/>
            </a:pPr>
            <a:r>
              <a:rPr lang="en-US" sz="1200" dirty="0">
                <a:solidFill>
                  <a:srgbClr val="6B7280"/>
                </a:solidFill>
              </a:rPr>
              <a:t>country–indicator–year rows</a:t>
            </a:r>
            <a:endParaRPr lang="en-US" sz="1200" dirty="0"/>
          </a:p>
        </p:txBody>
      </p:sp>
      <p:sp>
        <p:nvSpPr>
          <p:cNvPr id="15" name="Text 13"/>
          <p:cNvSpPr/>
          <p:nvPr/>
        </p:nvSpPr>
        <p:spPr>
          <a:xfrm>
            <a:off x="777240" y="2880360"/>
            <a:ext cx="3291840" cy="274320"/>
          </a:xfrm>
          <a:prstGeom prst="rect">
            <a:avLst/>
          </a:prstGeom>
          <a:noFill/>
          <a:ln/>
        </p:spPr>
        <p:txBody>
          <a:bodyPr wrap="square" lIns="0" tIns="0" rIns="0" bIns="0" rtlCol="0" anchor="ctr"/>
          <a:lstStyle/>
          <a:p>
            <a:pPr marL="0" indent="0">
              <a:buNone/>
            </a:pPr>
            <a:r>
              <a:rPr lang="en-US" b="1" dirty="0">
                <a:solidFill>
                  <a:srgbClr val="0B1F3A"/>
                </a:solidFill>
              </a:rPr>
              <a:t>Indicators used</a:t>
            </a:r>
            <a:endParaRPr lang="en-US" dirty="0"/>
          </a:p>
        </p:txBody>
      </p:sp>
      <p:sp>
        <p:nvSpPr>
          <p:cNvPr id="16" name="Text 14"/>
          <p:cNvSpPr/>
          <p:nvPr/>
        </p:nvSpPr>
        <p:spPr>
          <a:xfrm>
            <a:off x="822960" y="3310128"/>
            <a:ext cx="2011680" cy="228600"/>
          </a:xfrm>
          <a:prstGeom prst="rect">
            <a:avLst/>
          </a:prstGeom>
          <a:noFill/>
          <a:ln/>
        </p:spPr>
        <p:txBody>
          <a:bodyPr wrap="square" lIns="0" tIns="0" rIns="0" bIns="0" rtlCol="0" anchor="ctr"/>
          <a:lstStyle/>
          <a:p>
            <a:pPr marL="0" indent="0">
              <a:buNone/>
            </a:pPr>
            <a:r>
              <a:rPr lang="en-US" sz="1600" b="1" dirty="0">
                <a:solidFill>
                  <a:srgbClr val="111827"/>
                </a:solidFill>
              </a:rPr>
              <a:t>GDP growth</a:t>
            </a:r>
            <a:endParaRPr lang="en-US" sz="1600" dirty="0"/>
          </a:p>
        </p:txBody>
      </p:sp>
      <p:sp>
        <p:nvSpPr>
          <p:cNvPr id="17" name="Text 15"/>
          <p:cNvSpPr/>
          <p:nvPr/>
        </p:nvSpPr>
        <p:spPr>
          <a:xfrm>
            <a:off x="2834640" y="3310128"/>
            <a:ext cx="2377440" cy="228600"/>
          </a:xfrm>
          <a:prstGeom prst="rect">
            <a:avLst/>
          </a:prstGeom>
          <a:noFill/>
          <a:ln/>
        </p:spPr>
        <p:txBody>
          <a:bodyPr wrap="square" lIns="0" tIns="0" rIns="0" bIns="0" rtlCol="0" anchor="ctr"/>
          <a:lstStyle/>
          <a:p>
            <a:pPr marL="0" indent="0">
              <a:buNone/>
            </a:pPr>
            <a:r>
              <a:rPr lang="en-US" sz="1100" dirty="0">
                <a:solidFill>
                  <a:srgbClr val="6B7280"/>
                </a:solidFill>
              </a:rPr>
              <a:t>NY.GDP.MKTP.KD.ZG</a:t>
            </a:r>
            <a:endParaRPr lang="en-US" sz="1100" dirty="0"/>
          </a:p>
        </p:txBody>
      </p:sp>
      <p:sp>
        <p:nvSpPr>
          <p:cNvPr id="18" name="Text 16"/>
          <p:cNvSpPr/>
          <p:nvPr/>
        </p:nvSpPr>
        <p:spPr>
          <a:xfrm>
            <a:off x="822960" y="3803904"/>
            <a:ext cx="2011680" cy="228600"/>
          </a:xfrm>
          <a:prstGeom prst="rect">
            <a:avLst/>
          </a:prstGeom>
          <a:noFill/>
          <a:ln/>
        </p:spPr>
        <p:txBody>
          <a:bodyPr wrap="square" lIns="0" tIns="0" rIns="0" bIns="0" rtlCol="0" anchor="ctr"/>
          <a:lstStyle/>
          <a:p>
            <a:pPr marL="0" indent="0">
              <a:buNone/>
            </a:pPr>
            <a:r>
              <a:rPr lang="en-US" sz="1600" b="1" dirty="0">
                <a:solidFill>
                  <a:srgbClr val="111827"/>
                </a:solidFill>
              </a:rPr>
              <a:t>Inflation</a:t>
            </a:r>
            <a:endParaRPr lang="en-US" sz="1600" dirty="0"/>
          </a:p>
        </p:txBody>
      </p:sp>
      <p:sp>
        <p:nvSpPr>
          <p:cNvPr id="19" name="Text 17"/>
          <p:cNvSpPr/>
          <p:nvPr/>
        </p:nvSpPr>
        <p:spPr>
          <a:xfrm>
            <a:off x="2834640" y="3803904"/>
            <a:ext cx="2377440" cy="228600"/>
          </a:xfrm>
          <a:prstGeom prst="rect">
            <a:avLst/>
          </a:prstGeom>
          <a:noFill/>
          <a:ln/>
        </p:spPr>
        <p:txBody>
          <a:bodyPr wrap="square" lIns="0" tIns="0" rIns="0" bIns="0" rtlCol="0" anchor="ctr"/>
          <a:lstStyle/>
          <a:p>
            <a:pPr marL="0" indent="0">
              <a:buNone/>
            </a:pPr>
            <a:r>
              <a:rPr lang="en-US" sz="1100" dirty="0">
                <a:solidFill>
                  <a:srgbClr val="6B7280"/>
                </a:solidFill>
              </a:rPr>
              <a:t>FP.CPI.TOTL.ZG</a:t>
            </a:r>
            <a:endParaRPr lang="en-US" sz="1100" dirty="0"/>
          </a:p>
        </p:txBody>
      </p:sp>
      <p:sp>
        <p:nvSpPr>
          <p:cNvPr id="20" name="Text 18"/>
          <p:cNvSpPr/>
          <p:nvPr/>
        </p:nvSpPr>
        <p:spPr>
          <a:xfrm>
            <a:off x="822960" y="4297680"/>
            <a:ext cx="2011680" cy="228600"/>
          </a:xfrm>
          <a:prstGeom prst="rect">
            <a:avLst/>
          </a:prstGeom>
          <a:noFill/>
          <a:ln/>
        </p:spPr>
        <p:txBody>
          <a:bodyPr wrap="square" lIns="0" tIns="0" rIns="0" bIns="0" rtlCol="0" anchor="ctr"/>
          <a:lstStyle/>
          <a:p>
            <a:pPr marL="0" indent="0">
              <a:buNone/>
            </a:pPr>
            <a:r>
              <a:rPr lang="en-US" sz="1600" b="1" dirty="0">
                <a:solidFill>
                  <a:srgbClr val="111827"/>
                </a:solidFill>
              </a:rPr>
              <a:t>Unemployment</a:t>
            </a:r>
            <a:endParaRPr lang="en-US" sz="1600" dirty="0"/>
          </a:p>
        </p:txBody>
      </p:sp>
      <p:sp>
        <p:nvSpPr>
          <p:cNvPr id="21" name="Text 19"/>
          <p:cNvSpPr/>
          <p:nvPr/>
        </p:nvSpPr>
        <p:spPr>
          <a:xfrm>
            <a:off x="2834640" y="4297680"/>
            <a:ext cx="2377440" cy="228600"/>
          </a:xfrm>
          <a:prstGeom prst="rect">
            <a:avLst/>
          </a:prstGeom>
          <a:noFill/>
          <a:ln/>
        </p:spPr>
        <p:txBody>
          <a:bodyPr wrap="square" lIns="0" tIns="0" rIns="0" bIns="0" rtlCol="0" anchor="ctr"/>
          <a:lstStyle/>
          <a:p>
            <a:pPr marL="0" indent="0">
              <a:buNone/>
            </a:pPr>
            <a:r>
              <a:rPr lang="en-US" sz="1100" dirty="0">
                <a:solidFill>
                  <a:srgbClr val="6B7280"/>
                </a:solidFill>
              </a:rPr>
              <a:t>SL.UEM.TOTL.ZS</a:t>
            </a:r>
            <a:endParaRPr lang="en-US" sz="1100" dirty="0"/>
          </a:p>
        </p:txBody>
      </p:sp>
      <p:sp>
        <p:nvSpPr>
          <p:cNvPr id="22" name="Shape 20"/>
          <p:cNvSpPr/>
          <p:nvPr/>
        </p:nvSpPr>
        <p:spPr>
          <a:xfrm>
            <a:off x="6080760" y="2880360"/>
            <a:ext cx="4800600" cy="2103120"/>
          </a:xfrm>
          <a:prstGeom prst="roundRect">
            <a:avLst>
              <a:gd name="adj" fmla="val 3478"/>
            </a:avLst>
          </a:prstGeom>
          <a:solidFill>
            <a:srgbClr val="FFFFFF"/>
          </a:solidFill>
          <a:ln w="12700">
            <a:solidFill>
              <a:srgbClr val="D9DEE8"/>
            </a:solidFill>
            <a:prstDash val="solid"/>
          </a:ln>
        </p:spPr>
        <p:txBody>
          <a:bodyPr/>
          <a:lstStyle/>
          <a:p>
            <a:endParaRPr lang="en-IL"/>
          </a:p>
        </p:txBody>
      </p:sp>
      <p:sp>
        <p:nvSpPr>
          <p:cNvPr id="23" name="Text 21"/>
          <p:cNvSpPr/>
          <p:nvPr/>
        </p:nvSpPr>
        <p:spPr>
          <a:xfrm>
            <a:off x="6227064" y="2980944"/>
            <a:ext cx="4507992" cy="1901952"/>
          </a:xfrm>
          <a:prstGeom prst="rect">
            <a:avLst/>
          </a:prstGeom>
          <a:noFill/>
          <a:ln/>
        </p:spPr>
        <p:txBody>
          <a:bodyPr wrap="square" lIns="254" tIns="254" rIns="254" bIns="254" rtlCol="0" anchor="ctr">
            <a:normAutofit/>
          </a:bodyPr>
          <a:lstStyle/>
          <a:p>
            <a:pPr marL="0" indent="0">
              <a:buNone/>
            </a:pPr>
            <a:r>
              <a:rPr lang="en-US" sz="1600" dirty="0">
                <a:solidFill>
                  <a:srgbClr val="111827"/>
                </a:solidFill>
              </a:rPr>
              <a:t>Cleaning choices:</a:t>
            </a:r>
            <a:endParaRPr lang="en-US" sz="1600" dirty="0"/>
          </a:p>
          <a:p>
            <a:pPr marL="0" indent="0">
              <a:buNone/>
            </a:pPr>
            <a:r>
              <a:rPr lang="en-US" sz="1600" dirty="0">
                <a:solidFill>
                  <a:srgbClr val="111827"/>
                </a:solidFill>
              </a:rPr>
              <a:t>• Kept missing economic values as NULL</a:t>
            </a:r>
            <a:endParaRPr lang="en-US" sz="1600" dirty="0"/>
          </a:p>
          <a:p>
            <a:pPr marL="0" indent="0">
              <a:buNone/>
            </a:pPr>
            <a:r>
              <a:rPr lang="en-US" sz="1600" dirty="0">
                <a:solidFill>
                  <a:srgbClr val="111827"/>
                </a:solidFill>
              </a:rPr>
              <a:t>• Converted years to integer and values to REAL</a:t>
            </a:r>
            <a:endParaRPr lang="en-US" sz="1600" dirty="0"/>
          </a:p>
          <a:p>
            <a:pPr marL="0" indent="0">
              <a:buNone/>
            </a:pPr>
            <a:r>
              <a:rPr lang="en-US" sz="1600" dirty="0">
                <a:solidFill>
                  <a:srgbClr val="111827"/>
                </a:solidFill>
              </a:rPr>
              <a:t>• Restricted to one consistent EU-27 sample</a:t>
            </a:r>
            <a:endParaRPr lang="en-US" sz="1600" dirty="0"/>
          </a:p>
          <a:p>
            <a:pPr marL="0" indent="0">
              <a:buNone/>
            </a:pPr>
            <a:r>
              <a:rPr lang="en-US" sz="1600" dirty="0">
                <a:solidFill>
                  <a:srgbClr val="111827"/>
                </a:solidFill>
              </a:rPr>
              <a:t>• Reshaped from wide to long format</a:t>
            </a:r>
            <a:endParaRPr lang="en-US" sz="1600" dirty="0"/>
          </a:p>
        </p:txBody>
      </p:sp>
      <p:sp>
        <p:nvSpPr>
          <p:cNvPr id="24" name="Text 22"/>
          <p:cNvSpPr/>
          <p:nvPr/>
        </p:nvSpPr>
        <p:spPr>
          <a:xfrm>
            <a:off x="777240" y="5897880"/>
            <a:ext cx="8046720" cy="256032"/>
          </a:xfrm>
          <a:prstGeom prst="rect">
            <a:avLst/>
          </a:prstGeom>
          <a:noFill/>
          <a:ln/>
        </p:spPr>
        <p:txBody>
          <a:bodyPr wrap="square" lIns="0" tIns="0" rIns="0" bIns="0" rtlCol="0" anchor="ctr"/>
          <a:lstStyle/>
          <a:p>
            <a:pPr marL="0" indent="0">
              <a:buNone/>
            </a:pPr>
            <a:r>
              <a:rPr lang="en-US" sz="1050" dirty="0">
                <a:solidFill>
                  <a:srgbClr val="6B7280"/>
                </a:solidFill>
              </a:rPr>
              <a:t>Source: World Bank, World Development Indicators (selected CSV download).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Database design: three tables, two real relationships</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r>
              <a:rPr lang="en-US" sz="1220" dirty="0">
                <a:solidFill>
                  <a:srgbClr val="6B7280"/>
                </a:solidFill>
              </a:rPr>
              <a:t>The ERD was the core database-design deliverable.</a:t>
            </a: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4/10</a:t>
            </a:r>
            <a:endParaRPr lang="en-US" sz="850" dirty="0"/>
          </a:p>
        </p:txBody>
      </p:sp>
      <p:sp>
        <p:nvSpPr>
          <p:cNvPr id="7" name="Shape 5"/>
          <p:cNvSpPr/>
          <p:nvPr/>
        </p:nvSpPr>
        <p:spPr>
          <a:xfrm>
            <a:off x="3246120" y="2880360"/>
            <a:ext cx="1371600" cy="0"/>
          </a:xfrm>
          <a:prstGeom prst="line">
            <a:avLst/>
          </a:prstGeom>
          <a:noFill/>
          <a:ln w="20320">
            <a:solidFill>
              <a:srgbClr val="6B7280"/>
            </a:solidFill>
            <a:prstDash val="solid"/>
            <a:tailEnd type="triangle"/>
          </a:ln>
        </p:spPr>
        <p:txBody>
          <a:bodyPr/>
          <a:lstStyle/>
          <a:p>
            <a:endParaRPr lang="en-IL"/>
          </a:p>
        </p:txBody>
      </p:sp>
      <p:sp>
        <p:nvSpPr>
          <p:cNvPr id="8" name="Shape 6"/>
          <p:cNvSpPr/>
          <p:nvPr/>
        </p:nvSpPr>
        <p:spPr>
          <a:xfrm>
            <a:off x="7269480" y="2880360"/>
            <a:ext cx="1691640" cy="0"/>
          </a:xfrm>
          <a:prstGeom prst="line">
            <a:avLst/>
          </a:prstGeom>
          <a:noFill/>
          <a:ln w="20320">
            <a:solidFill>
              <a:srgbClr val="6B7280"/>
            </a:solidFill>
            <a:prstDash val="solid"/>
            <a:headEnd type="triangle"/>
          </a:ln>
        </p:spPr>
        <p:txBody>
          <a:bodyPr/>
          <a:lstStyle/>
          <a:p>
            <a:endParaRPr lang="en-IL"/>
          </a:p>
        </p:txBody>
      </p:sp>
      <p:sp>
        <p:nvSpPr>
          <p:cNvPr id="9" name="Text 7"/>
          <p:cNvSpPr/>
          <p:nvPr/>
        </p:nvSpPr>
        <p:spPr>
          <a:xfrm>
            <a:off x="3401568" y="1572768"/>
            <a:ext cx="960120" cy="201168"/>
          </a:xfrm>
          <a:prstGeom prst="rect">
            <a:avLst/>
          </a:prstGeom>
          <a:noFill/>
          <a:ln/>
        </p:spPr>
        <p:txBody>
          <a:bodyPr wrap="square" lIns="0" tIns="0" rIns="0" bIns="0" rtlCol="0" anchor="ctr"/>
          <a:lstStyle/>
          <a:p>
            <a:pPr marL="0" indent="0" algn="ctr">
              <a:buNone/>
            </a:pPr>
            <a:r>
              <a:rPr lang="en-US" sz="1200" dirty="0">
                <a:solidFill>
                  <a:srgbClr val="6B7280"/>
                </a:solidFill>
              </a:rPr>
              <a:t>1 → many</a:t>
            </a:r>
            <a:endParaRPr lang="en-US" sz="1200" dirty="0"/>
          </a:p>
        </p:txBody>
      </p:sp>
      <p:sp>
        <p:nvSpPr>
          <p:cNvPr id="10" name="Text 8"/>
          <p:cNvSpPr/>
          <p:nvPr/>
        </p:nvSpPr>
        <p:spPr>
          <a:xfrm>
            <a:off x="7818120" y="1572768"/>
            <a:ext cx="960120" cy="201168"/>
          </a:xfrm>
          <a:prstGeom prst="rect">
            <a:avLst/>
          </a:prstGeom>
          <a:noFill/>
          <a:ln/>
        </p:spPr>
        <p:txBody>
          <a:bodyPr wrap="square" lIns="0" tIns="0" rIns="0" bIns="0" rtlCol="0" anchor="ctr"/>
          <a:lstStyle/>
          <a:p>
            <a:pPr marL="0" indent="0" algn="ctr">
              <a:buNone/>
            </a:pPr>
            <a:r>
              <a:rPr lang="en-US" sz="950" dirty="0">
                <a:solidFill>
                  <a:srgbClr val="6B7280"/>
                </a:solidFill>
              </a:rPr>
              <a:t>many ← 1</a:t>
            </a:r>
            <a:endParaRPr lang="en-US" sz="950" dirty="0"/>
          </a:p>
        </p:txBody>
      </p:sp>
      <p:sp>
        <p:nvSpPr>
          <p:cNvPr id="11" name="Shape 9"/>
          <p:cNvSpPr/>
          <p:nvPr/>
        </p:nvSpPr>
        <p:spPr>
          <a:xfrm>
            <a:off x="777240" y="2057400"/>
            <a:ext cx="2468880" cy="2057400"/>
          </a:xfrm>
          <a:prstGeom prst="roundRect">
            <a:avLst>
              <a:gd name="adj" fmla="val 3556"/>
            </a:avLst>
          </a:prstGeom>
          <a:solidFill>
            <a:srgbClr val="FFFFFF"/>
          </a:solidFill>
          <a:ln w="19050">
            <a:solidFill>
              <a:srgbClr val="00A6A6"/>
            </a:solidFill>
            <a:prstDash val="solid"/>
          </a:ln>
        </p:spPr>
        <p:txBody>
          <a:bodyPr/>
          <a:lstStyle/>
          <a:p>
            <a:endParaRPr lang="en-IL"/>
          </a:p>
        </p:txBody>
      </p:sp>
      <p:sp>
        <p:nvSpPr>
          <p:cNvPr id="12" name="Shape 10"/>
          <p:cNvSpPr/>
          <p:nvPr/>
        </p:nvSpPr>
        <p:spPr>
          <a:xfrm>
            <a:off x="777240" y="2057400"/>
            <a:ext cx="2468880" cy="411480"/>
          </a:xfrm>
          <a:prstGeom prst="rect">
            <a:avLst/>
          </a:prstGeom>
          <a:solidFill>
            <a:srgbClr val="00A6A6"/>
          </a:solidFill>
          <a:ln w="12700">
            <a:solidFill>
              <a:srgbClr val="00A6A6"/>
            </a:solidFill>
            <a:prstDash val="solid"/>
          </a:ln>
        </p:spPr>
        <p:txBody>
          <a:bodyPr/>
          <a:lstStyle/>
          <a:p>
            <a:endParaRPr lang="en-IL"/>
          </a:p>
        </p:txBody>
      </p:sp>
      <p:sp>
        <p:nvSpPr>
          <p:cNvPr id="13" name="Text 11"/>
          <p:cNvSpPr/>
          <p:nvPr/>
        </p:nvSpPr>
        <p:spPr>
          <a:xfrm>
            <a:off x="886968" y="2148840"/>
            <a:ext cx="2249424" cy="219456"/>
          </a:xfrm>
          <a:prstGeom prst="rect">
            <a:avLst/>
          </a:prstGeom>
          <a:noFill/>
          <a:ln/>
        </p:spPr>
        <p:txBody>
          <a:bodyPr wrap="square" lIns="0" tIns="0" rIns="0" bIns="0" rtlCol="0" anchor="ctr"/>
          <a:lstStyle/>
          <a:p>
            <a:pPr marL="0" indent="0">
              <a:buNone/>
            </a:pPr>
            <a:r>
              <a:rPr lang="en-US" sz="1600" b="1" dirty="0">
                <a:solidFill>
                  <a:srgbClr val="FFFFFF"/>
                </a:solidFill>
              </a:rPr>
              <a:t>countries</a:t>
            </a:r>
            <a:endParaRPr lang="en-US" sz="1300" dirty="0"/>
          </a:p>
        </p:txBody>
      </p:sp>
      <p:sp>
        <p:nvSpPr>
          <p:cNvPr id="14" name="Text 12"/>
          <p:cNvSpPr/>
          <p:nvPr/>
        </p:nvSpPr>
        <p:spPr>
          <a:xfrm>
            <a:off x="941832" y="2624328"/>
            <a:ext cx="213969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country_code  PK</a:t>
            </a:r>
            <a:endParaRPr lang="en-US" sz="1400" dirty="0"/>
          </a:p>
        </p:txBody>
      </p:sp>
      <p:sp>
        <p:nvSpPr>
          <p:cNvPr id="15" name="Text 13"/>
          <p:cNvSpPr/>
          <p:nvPr/>
        </p:nvSpPr>
        <p:spPr>
          <a:xfrm>
            <a:off x="941832" y="2926080"/>
            <a:ext cx="213969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country_name</a:t>
            </a:r>
            <a:endParaRPr lang="en-US" sz="1400" dirty="0"/>
          </a:p>
        </p:txBody>
      </p:sp>
      <p:sp>
        <p:nvSpPr>
          <p:cNvPr id="16" name="Text 14"/>
          <p:cNvSpPr/>
          <p:nvPr/>
        </p:nvSpPr>
        <p:spPr>
          <a:xfrm>
            <a:off x="941832" y="3227832"/>
            <a:ext cx="213969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region</a:t>
            </a:r>
            <a:endParaRPr lang="en-US" sz="1400" dirty="0"/>
          </a:p>
        </p:txBody>
      </p:sp>
      <p:sp>
        <p:nvSpPr>
          <p:cNvPr id="17" name="Shape 15"/>
          <p:cNvSpPr/>
          <p:nvPr/>
        </p:nvSpPr>
        <p:spPr>
          <a:xfrm>
            <a:off x="4617720" y="1737360"/>
            <a:ext cx="2651760" cy="2651760"/>
          </a:xfrm>
          <a:prstGeom prst="roundRect">
            <a:avLst>
              <a:gd name="adj" fmla="val 2759"/>
            </a:avLst>
          </a:prstGeom>
          <a:solidFill>
            <a:srgbClr val="FFFFFF"/>
          </a:solidFill>
          <a:ln w="19050">
            <a:solidFill>
              <a:srgbClr val="0B1F3A"/>
            </a:solidFill>
            <a:prstDash val="solid"/>
          </a:ln>
        </p:spPr>
        <p:txBody>
          <a:bodyPr/>
          <a:lstStyle/>
          <a:p>
            <a:endParaRPr lang="en-IL"/>
          </a:p>
        </p:txBody>
      </p:sp>
      <p:sp>
        <p:nvSpPr>
          <p:cNvPr id="18" name="Shape 16"/>
          <p:cNvSpPr/>
          <p:nvPr/>
        </p:nvSpPr>
        <p:spPr>
          <a:xfrm>
            <a:off x="4617720" y="1737360"/>
            <a:ext cx="2651760" cy="411480"/>
          </a:xfrm>
          <a:prstGeom prst="rect">
            <a:avLst/>
          </a:prstGeom>
          <a:solidFill>
            <a:srgbClr val="0B1F3A"/>
          </a:solidFill>
          <a:ln w="12700">
            <a:solidFill>
              <a:srgbClr val="0B1F3A"/>
            </a:solidFill>
            <a:prstDash val="solid"/>
          </a:ln>
        </p:spPr>
        <p:txBody>
          <a:bodyPr/>
          <a:lstStyle/>
          <a:p>
            <a:endParaRPr lang="en-IL"/>
          </a:p>
        </p:txBody>
      </p:sp>
      <p:sp>
        <p:nvSpPr>
          <p:cNvPr id="19" name="Text 17"/>
          <p:cNvSpPr/>
          <p:nvPr/>
        </p:nvSpPr>
        <p:spPr>
          <a:xfrm>
            <a:off x="4727448" y="1828800"/>
            <a:ext cx="2432304" cy="219456"/>
          </a:xfrm>
          <a:prstGeom prst="rect">
            <a:avLst/>
          </a:prstGeom>
          <a:noFill/>
          <a:ln/>
        </p:spPr>
        <p:txBody>
          <a:bodyPr wrap="square" lIns="0" tIns="0" rIns="0" bIns="0" rtlCol="0" anchor="ctr"/>
          <a:lstStyle/>
          <a:p>
            <a:pPr marL="0" indent="0">
              <a:buNone/>
            </a:pPr>
            <a:r>
              <a:rPr lang="en-US" sz="1600" b="1" dirty="0">
                <a:solidFill>
                  <a:srgbClr val="FFFFFF"/>
                </a:solidFill>
              </a:rPr>
              <a:t>observations</a:t>
            </a:r>
            <a:endParaRPr lang="en-US" sz="1300" dirty="0"/>
          </a:p>
        </p:txBody>
      </p:sp>
      <p:sp>
        <p:nvSpPr>
          <p:cNvPr id="20" name="Text 18"/>
          <p:cNvSpPr/>
          <p:nvPr/>
        </p:nvSpPr>
        <p:spPr>
          <a:xfrm>
            <a:off x="4782312" y="2304288"/>
            <a:ext cx="23225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country_code  FK</a:t>
            </a:r>
            <a:endParaRPr lang="en-US" sz="1400" dirty="0"/>
          </a:p>
        </p:txBody>
      </p:sp>
      <p:sp>
        <p:nvSpPr>
          <p:cNvPr id="21" name="Text 19"/>
          <p:cNvSpPr/>
          <p:nvPr/>
        </p:nvSpPr>
        <p:spPr>
          <a:xfrm>
            <a:off x="4782312" y="2606040"/>
            <a:ext cx="23225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indicator_code  FK</a:t>
            </a:r>
            <a:endParaRPr lang="en-US" sz="1400" dirty="0"/>
          </a:p>
        </p:txBody>
      </p:sp>
      <p:sp>
        <p:nvSpPr>
          <p:cNvPr id="22" name="Text 20"/>
          <p:cNvSpPr/>
          <p:nvPr/>
        </p:nvSpPr>
        <p:spPr>
          <a:xfrm>
            <a:off x="4782312" y="2907792"/>
            <a:ext cx="23225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year</a:t>
            </a:r>
            <a:endParaRPr lang="en-US" sz="1400" dirty="0"/>
          </a:p>
        </p:txBody>
      </p:sp>
      <p:sp>
        <p:nvSpPr>
          <p:cNvPr id="23" name="Text 21"/>
          <p:cNvSpPr/>
          <p:nvPr/>
        </p:nvSpPr>
        <p:spPr>
          <a:xfrm>
            <a:off x="4782312" y="3209544"/>
            <a:ext cx="23225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value</a:t>
            </a:r>
            <a:endParaRPr lang="en-US" sz="1400" dirty="0"/>
          </a:p>
        </p:txBody>
      </p:sp>
      <p:sp>
        <p:nvSpPr>
          <p:cNvPr id="24" name="Text 22"/>
          <p:cNvSpPr/>
          <p:nvPr/>
        </p:nvSpPr>
        <p:spPr>
          <a:xfrm>
            <a:off x="4782312" y="3511296"/>
            <a:ext cx="23225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PK: country + indicator + year</a:t>
            </a:r>
            <a:endParaRPr lang="en-US" sz="1400" dirty="0"/>
          </a:p>
        </p:txBody>
      </p:sp>
      <p:sp>
        <p:nvSpPr>
          <p:cNvPr id="25" name="Shape 23"/>
          <p:cNvSpPr/>
          <p:nvPr/>
        </p:nvSpPr>
        <p:spPr>
          <a:xfrm>
            <a:off x="8961120" y="2057400"/>
            <a:ext cx="2423160" cy="2057400"/>
          </a:xfrm>
          <a:prstGeom prst="roundRect">
            <a:avLst>
              <a:gd name="adj" fmla="val 3556"/>
            </a:avLst>
          </a:prstGeom>
          <a:solidFill>
            <a:srgbClr val="FFFFFF"/>
          </a:solidFill>
          <a:ln w="19050">
            <a:solidFill>
              <a:srgbClr val="F2A900"/>
            </a:solidFill>
            <a:prstDash val="solid"/>
          </a:ln>
        </p:spPr>
        <p:txBody>
          <a:bodyPr/>
          <a:lstStyle/>
          <a:p>
            <a:endParaRPr lang="en-IL"/>
          </a:p>
        </p:txBody>
      </p:sp>
      <p:sp>
        <p:nvSpPr>
          <p:cNvPr id="26" name="Shape 24"/>
          <p:cNvSpPr/>
          <p:nvPr/>
        </p:nvSpPr>
        <p:spPr>
          <a:xfrm>
            <a:off x="8961120" y="2057400"/>
            <a:ext cx="2423160" cy="411480"/>
          </a:xfrm>
          <a:prstGeom prst="rect">
            <a:avLst/>
          </a:prstGeom>
          <a:solidFill>
            <a:srgbClr val="F2A900"/>
          </a:solidFill>
          <a:ln w="12700">
            <a:solidFill>
              <a:srgbClr val="F2A900"/>
            </a:solidFill>
            <a:prstDash val="solid"/>
          </a:ln>
        </p:spPr>
        <p:txBody>
          <a:bodyPr/>
          <a:lstStyle/>
          <a:p>
            <a:endParaRPr lang="en-IL"/>
          </a:p>
        </p:txBody>
      </p:sp>
      <p:sp>
        <p:nvSpPr>
          <p:cNvPr id="27" name="Text 25"/>
          <p:cNvSpPr/>
          <p:nvPr/>
        </p:nvSpPr>
        <p:spPr>
          <a:xfrm>
            <a:off x="9070848" y="2148840"/>
            <a:ext cx="2203704" cy="219456"/>
          </a:xfrm>
          <a:prstGeom prst="rect">
            <a:avLst/>
          </a:prstGeom>
          <a:noFill/>
          <a:ln/>
        </p:spPr>
        <p:txBody>
          <a:bodyPr wrap="square" lIns="0" tIns="0" rIns="0" bIns="0" rtlCol="0" anchor="ctr"/>
          <a:lstStyle/>
          <a:p>
            <a:pPr marL="0" indent="0">
              <a:buNone/>
            </a:pPr>
            <a:r>
              <a:rPr lang="en-US" sz="1600" b="1" dirty="0">
                <a:solidFill>
                  <a:srgbClr val="FFFFFF"/>
                </a:solidFill>
              </a:rPr>
              <a:t>indicators</a:t>
            </a:r>
            <a:endParaRPr lang="en-US" sz="1300" dirty="0"/>
          </a:p>
        </p:txBody>
      </p:sp>
      <p:sp>
        <p:nvSpPr>
          <p:cNvPr id="28" name="Text 26"/>
          <p:cNvSpPr/>
          <p:nvPr/>
        </p:nvSpPr>
        <p:spPr>
          <a:xfrm>
            <a:off x="9125712" y="2624328"/>
            <a:ext cx="20939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indicator_code  PK</a:t>
            </a:r>
            <a:endParaRPr lang="en-US" sz="1400" dirty="0"/>
          </a:p>
        </p:txBody>
      </p:sp>
      <p:sp>
        <p:nvSpPr>
          <p:cNvPr id="29" name="Text 27"/>
          <p:cNvSpPr/>
          <p:nvPr/>
        </p:nvSpPr>
        <p:spPr>
          <a:xfrm>
            <a:off x="9125712" y="2926080"/>
            <a:ext cx="20939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indicator_name</a:t>
            </a:r>
            <a:endParaRPr lang="en-US" sz="1400" dirty="0"/>
          </a:p>
        </p:txBody>
      </p:sp>
      <p:sp>
        <p:nvSpPr>
          <p:cNvPr id="30" name="Text 28"/>
          <p:cNvSpPr/>
          <p:nvPr/>
        </p:nvSpPr>
        <p:spPr>
          <a:xfrm>
            <a:off x="9125712" y="3227832"/>
            <a:ext cx="20939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description</a:t>
            </a:r>
            <a:endParaRPr lang="en-US" sz="1400" dirty="0"/>
          </a:p>
        </p:txBody>
      </p:sp>
      <p:sp>
        <p:nvSpPr>
          <p:cNvPr id="31" name="Text 29"/>
          <p:cNvSpPr/>
          <p:nvPr/>
        </p:nvSpPr>
        <p:spPr>
          <a:xfrm>
            <a:off x="9125712" y="3529584"/>
            <a:ext cx="2093976" cy="219456"/>
          </a:xfrm>
          <a:prstGeom prst="rect">
            <a:avLst/>
          </a:prstGeom>
          <a:noFill/>
          <a:ln/>
        </p:spPr>
        <p:txBody>
          <a:bodyPr wrap="square" lIns="0" tIns="0" rIns="0" bIns="0" rtlCol="0" anchor="ctr">
            <a:normAutofit/>
          </a:bodyPr>
          <a:lstStyle/>
          <a:p>
            <a:pPr marL="0" indent="0">
              <a:buNone/>
            </a:pPr>
            <a:r>
              <a:rPr lang="en-US" sz="1400" dirty="0">
                <a:solidFill>
                  <a:srgbClr val="111827"/>
                </a:solidFill>
              </a:rPr>
              <a:t>unit</a:t>
            </a:r>
            <a:endParaRPr lang="en-US" sz="1400" dirty="0"/>
          </a:p>
        </p:txBody>
      </p:sp>
      <p:sp>
        <p:nvSpPr>
          <p:cNvPr id="32" name="Shape 30"/>
          <p:cNvSpPr/>
          <p:nvPr/>
        </p:nvSpPr>
        <p:spPr>
          <a:xfrm>
            <a:off x="960120" y="4937760"/>
            <a:ext cx="10149840" cy="868680"/>
          </a:xfrm>
          <a:prstGeom prst="roundRect">
            <a:avLst>
              <a:gd name="adj" fmla="val 8421"/>
            </a:avLst>
          </a:prstGeom>
          <a:solidFill>
            <a:srgbClr val="FFFFFF"/>
          </a:solidFill>
          <a:ln w="12700">
            <a:solidFill>
              <a:srgbClr val="D9DEE8"/>
            </a:solidFill>
            <a:prstDash val="solid"/>
          </a:ln>
        </p:spPr>
        <p:txBody>
          <a:bodyPr/>
          <a:lstStyle/>
          <a:p>
            <a:endParaRPr lang="en-IL"/>
          </a:p>
        </p:txBody>
      </p:sp>
      <p:sp>
        <p:nvSpPr>
          <p:cNvPr id="33" name="Text 31"/>
          <p:cNvSpPr/>
          <p:nvPr/>
        </p:nvSpPr>
        <p:spPr>
          <a:xfrm>
            <a:off x="1106424" y="5038344"/>
            <a:ext cx="9857232" cy="667512"/>
          </a:xfrm>
          <a:prstGeom prst="rect">
            <a:avLst/>
          </a:prstGeom>
          <a:noFill/>
          <a:ln/>
        </p:spPr>
        <p:txBody>
          <a:bodyPr wrap="square" lIns="254" tIns="254" rIns="254" bIns="254" rtlCol="0" anchor="ctr">
            <a:normAutofit/>
          </a:bodyPr>
          <a:lstStyle/>
          <a:p>
            <a:pPr marL="0" indent="0">
              <a:buNone/>
            </a:pPr>
            <a:r>
              <a:rPr lang="en-US" sz="1230" dirty="0">
                <a:solidFill>
                  <a:srgbClr val="111827"/>
                </a:solidFill>
              </a:rPr>
              <a:t>Design decision: metadata is stored once; measurements live in observations. This prevents repeated country and indicator text and makes joins explicit.</a:t>
            </a:r>
            <a:endParaRPr lang="en-US" sz="12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SQL insight: recovery timing mattered more than a yes/no status</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r>
              <a:rPr lang="en-US" sz="1220" dirty="0">
                <a:solidFill>
                  <a:srgbClr val="6B7280"/>
                </a:solidFill>
              </a:rPr>
              <a:t>One CTE classified recovery years; foreign-key checks prevented silent row loss.</a:t>
            </a: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5/10</a:t>
            </a:r>
            <a:endParaRPr lang="en-US" sz="850" dirty="0"/>
          </a:p>
        </p:txBody>
      </p:sp>
      <p:pic>
        <p:nvPicPr>
          <p:cNvPr id="7" name="Image 0" descr="/mnt/data/eu_recovery_assets/sql_recovery_counts.png"/>
          <p:cNvPicPr>
            <a:picLocks noChangeAspect="1"/>
          </p:cNvPicPr>
          <p:nvPr/>
        </p:nvPicPr>
        <p:blipFill>
          <a:blip r:embed="rId3"/>
          <a:stretch>
            <a:fillRect/>
          </a:stretch>
        </p:blipFill>
        <p:spPr>
          <a:xfrm>
            <a:off x="16233" y="1234440"/>
            <a:ext cx="6335491" cy="3580930"/>
          </a:xfrm>
          <a:prstGeom prst="rect">
            <a:avLst/>
          </a:prstGeom>
        </p:spPr>
      </p:pic>
      <p:sp>
        <p:nvSpPr>
          <p:cNvPr id="8" name="Text 5"/>
          <p:cNvSpPr/>
          <p:nvPr/>
        </p:nvSpPr>
        <p:spPr>
          <a:xfrm>
            <a:off x="6446520" y="1234440"/>
            <a:ext cx="4480560" cy="274320"/>
          </a:xfrm>
          <a:prstGeom prst="rect">
            <a:avLst/>
          </a:prstGeom>
          <a:noFill/>
          <a:ln/>
        </p:spPr>
        <p:txBody>
          <a:bodyPr wrap="square" lIns="0" tIns="0" rIns="0" bIns="0" rtlCol="0" anchor="ctr"/>
          <a:lstStyle/>
          <a:p>
            <a:pPr marL="0" indent="0">
              <a:buNone/>
            </a:pPr>
            <a:r>
              <a:rPr lang="en-US" sz="1600" b="1" dirty="0">
                <a:solidFill>
                  <a:srgbClr val="0B1F3A"/>
                </a:solidFill>
              </a:rPr>
              <a:t>Revealing query pattern</a:t>
            </a:r>
            <a:endParaRPr lang="en-US" sz="1600" dirty="0"/>
          </a:p>
        </p:txBody>
      </p:sp>
      <p:sp>
        <p:nvSpPr>
          <p:cNvPr id="9" name="Shape 6"/>
          <p:cNvSpPr/>
          <p:nvPr/>
        </p:nvSpPr>
        <p:spPr>
          <a:xfrm>
            <a:off x="6446520" y="1645920"/>
            <a:ext cx="4709160" cy="1965960"/>
          </a:xfrm>
          <a:prstGeom prst="roundRect">
            <a:avLst>
              <a:gd name="adj" fmla="val 3721"/>
            </a:avLst>
          </a:prstGeom>
          <a:solidFill>
            <a:srgbClr val="FFFFFF"/>
          </a:solidFill>
          <a:ln w="12700">
            <a:solidFill>
              <a:srgbClr val="D9DEE8"/>
            </a:solidFill>
            <a:prstDash val="solid"/>
          </a:ln>
        </p:spPr>
        <p:txBody>
          <a:bodyPr/>
          <a:lstStyle/>
          <a:p>
            <a:endParaRPr lang="en-IL"/>
          </a:p>
        </p:txBody>
      </p:sp>
      <p:sp>
        <p:nvSpPr>
          <p:cNvPr id="10" name="Text 7"/>
          <p:cNvSpPr/>
          <p:nvPr/>
        </p:nvSpPr>
        <p:spPr>
          <a:xfrm>
            <a:off x="6592824" y="1746504"/>
            <a:ext cx="4416552" cy="1764792"/>
          </a:xfrm>
          <a:prstGeom prst="rect">
            <a:avLst/>
          </a:prstGeom>
          <a:noFill/>
          <a:ln/>
        </p:spPr>
        <p:txBody>
          <a:bodyPr wrap="square" lIns="254" tIns="254" rIns="254" bIns="254" rtlCol="0" anchor="ctr">
            <a:normAutofit/>
          </a:bodyPr>
          <a:lstStyle/>
          <a:p>
            <a:pPr marL="0" indent="0">
              <a:buNone/>
            </a:pPr>
            <a:r>
              <a:rPr lang="en-US" sz="1230" dirty="0">
                <a:solidFill>
                  <a:srgbClr val="111827"/>
                </a:solidFill>
              </a:rPr>
              <a:t>WITH recovery AS (...)</a:t>
            </a:r>
            <a:endParaRPr lang="en-US" sz="1230" dirty="0"/>
          </a:p>
          <a:p>
            <a:pPr marL="0" indent="0">
              <a:buNone/>
            </a:pPr>
            <a:r>
              <a:rPr lang="en-US" sz="1230" dirty="0">
                <a:solidFill>
                  <a:srgbClr val="111827"/>
                </a:solidFill>
              </a:rPr>
              <a:t>SELECT</a:t>
            </a:r>
            <a:endParaRPr lang="en-US" sz="1230" dirty="0"/>
          </a:p>
          <a:p>
            <a:pPr marL="0" indent="0">
              <a:buNone/>
            </a:pPr>
            <a:r>
              <a:rPr lang="en-US" sz="1230" dirty="0">
                <a:solidFill>
                  <a:srgbClr val="111827"/>
                </a:solidFill>
              </a:rPr>
              <a:t>  country_name,</a:t>
            </a:r>
            <a:endParaRPr lang="en-US" sz="1230" dirty="0"/>
          </a:p>
          <a:p>
            <a:pPr marL="0" indent="0">
              <a:buNone/>
            </a:pPr>
            <a:r>
              <a:rPr lang="en-US" sz="1230" dirty="0">
                <a:solidFill>
                  <a:srgbClr val="111827"/>
                </a:solidFill>
              </a:rPr>
              <a:t>  CASE WHEN gdp_2024 &gt;= 100</a:t>
            </a:r>
            <a:endParaRPr lang="en-US" sz="1230" dirty="0"/>
          </a:p>
          <a:p>
            <a:pPr marL="0" indent="0">
              <a:buNone/>
            </a:pPr>
            <a:r>
              <a:rPr lang="en-US" sz="1230" dirty="0">
                <a:solidFill>
                  <a:srgbClr val="111827"/>
                </a:solidFill>
              </a:rPr>
              <a:t>       THEN 'Recovered by 2024'</a:t>
            </a:r>
            <a:endParaRPr lang="en-US" sz="1230" dirty="0"/>
          </a:p>
          <a:p>
            <a:pPr marL="0" indent="0">
              <a:buNone/>
            </a:pPr>
            <a:r>
              <a:rPr lang="en-US" sz="1230" dirty="0">
                <a:solidFill>
                  <a:srgbClr val="111827"/>
                </a:solidFill>
              </a:rPr>
              <a:t>  END AS recovery_status,</a:t>
            </a:r>
            <a:endParaRPr lang="en-US" sz="1230" dirty="0"/>
          </a:p>
          <a:p>
            <a:pPr marL="0" indent="0">
              <a:buNone/>
            </a:pPr>
            <a:r>
              <a:rPr lang="en-US" sz="1230" dirty="0">
                <a:solidFill>
                  <a:srgbClr val="111827"/>
                </a:solidFill>
              </a:rPr>
              <a:t>  MIN(first_year_at_baseline)</a:t>
            </a:r>
            <a:endParaRPr lang="en-US" sz="1230" dirty="0"/>
          </a:p>
          <a:p>
            <a:pPr marL="0" indent="0">
              <a:buNone/>
            </a:pPr>
            <a:r>
              <a:rPr lang="en-US" sz="1230" dirty="0">
                <a:solidFill>
                  <a:srgbClr val="111827"/>
                </a:solidFill>
              </a:rPr>
              <a:t>FROM gdp_index_2019</a:t>
            </a:r>
            <a:endParaRPr lang="en-US" sz="1230" dirty="0"/>
          </a:p>
          <a:p>
            <a:pPr marL="0" indent="0">
              <a:buNone/>
            </a:pPr>
            <a:r>
              <a:rPr lang="en-US" sz="1230" dirty="0">
                <a:solidFill>
                  <a:srgbClr val="111827"/>
                </a:solidFill>
              </a:rPr>
              <a:t>GROUP BY country_name;</a:t>
            </a:r>
            <a:endParaRPr lang="en-US" sz="1230" dirty="0"/>
          </a:p>
        </p:txBody>
      </p:sp>
      <p:sp>
        <p:nvSpPr>
          <p:cNvPr id="11" name="Text 8"/>
          <p:cNvSpPr/>
          <p:nvPr/>
        </p:nvSpPr>
        <p:spPr>
          <a:xfrm>
            <a:off x="6446520" y="4023360"/>
            <a:ext cx="4480560" cy="274320"/>
          </a:xfrm>
          <a:prstGeom prst="rect">
            <a:avLst/>
          </a:prstGeom>
          <a:noFill/>
          <a:ln/>
        </p:spPr>
        <p:txBody>
          <a:bodyPr wrap="square" lIns="0" tIns="0" rIns="0" bIns="0" rtlCol="0" anchor="ctr"/>
          <a:lstStyle/>
          <a:p>
            <a:pPr marL="0" indent="0">
              <a:buNone/>
            </a:pPr>
            <a:r>
              <a:rPr lang="en-US" sz="1600" b="1" dirty="0">
                <a:solidFill>
                  <a:srgbClr val="0B1F3A"/>
                </a:solidFill>
              </a:rPr>
              <a:t>Biggest obstacle</a:t>
            </a:r>
            <a:endParaRPr lang="en-US" sz="1600" dirty="0"/>
          </a:p>
        </p:txBody>
      </p:sp>
      <p:sp>
        <p:nvSpPr>
          <p:cNvPr id="12" name="Text 9"/>
          <p:cNvSpPr/>
          <p:nvPr/>
        </p:nvSpPr>
        <p:spPr>
          <a:xfrm>
            <a:off x="6446520" y="4434840"/>
            <a:ext cx="4846320" cy="1152144"/>
          </a:xfrm>
          <a:prstGeom prst="rect">
            <a:avLst/>
          </a:prstGeom>
          <a:noFill/>
          <a:ln/>
        </p:spPr>
        <p:txBody>
          <a:bodyPr wrap="square" lIns="254" tIns="254" rIns="254" bIns="254" rtlCol="0" anchor="ctr">
            <a:normAutofit/>
          </a:bodyPr>
          <a:lstStyle/>
          <a:p>
            <a:r>
              <a:rPr lang="en-US" sz="1250" dirty="0">
                <a:solidFill>
                  <a:srgbClr val="111827"/>
                </a:solidFill>
              </a:rPr>
              <a:t>A database can load while broken joins silently drop rows.</a:t>
            </a:r>
            <a:endParaRPr lang="en-US" sz="1250" dirty="0"/>
          </a:p>
          <a:p>
            <a:r>
              <a:rPr lang="en-US" sz="1250" dirty="0">
                <a:solidFill>
                  <a:srgbClr val="111827"/>
                </a:solidFill>
              </a:rPr>
              <a:t>I checked primary keys, foreign keys and join counts before analysis.</a:t>
            </a:r>
            <a:endParaRPr lang="en-US" sz="1250" dirty="0"/>
          </a:p>
          <a:p>
            <a:r>
              <a:rPr lang="en-US" sz="1250" dirty="0">
                <a:solidFill>
                  <a:srgbClr val="111827"/>
                </a:solidFill>
              </a:rPr>
              <a:t>The full join returned the same number of observations as the source table.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Finding 1: most countries recovered, but trajectories diverged</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r>
              <a:rPr lang="en-US" sz="1220" dirty="0">
                <a:solidFill>
                  <a:srgbClr val="6B7280"/>
                </a:solidFill>
              </a:rPr>
              <a:t>GDP index reconstructed from annual growth rates; 2019 = 100.</a:t>
            </a: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6/10</a:t>
            </a:r>
            <a:endParaRPr lang="en-US" sz="850" dirty="0"/>
          </a:p>
        </p:txBody>
      </p:sp>
      <p:sp>
        <p:nvSpPr>
          <p:cNvPr id="8" name="Text 5"/>
          <p:cNvSpPr/>
          <p:nvPr/>
        </p:nvSpPr>
        <p:spPr>
          <a:xfrm>
            <a:off x="8732520" y="1234440"/>
            <a:ext cx="2377440" cy="256032"/>
          </a:xfrm>
          <a:prstGeom prst="rect">
            <a:avLst/>
          </a:prstGeom>
          <a:noFill/>
          <a:ln/>
        </p:spPr>
        <p:txBody>
          <a:bodyPr wrap="square" lIns="0" tIns="0" rIns="0" bIns="0" rtlCol="0" anchor="ctr"/>
          <a:lstStyle/>
          <a:p>
            <a:pPr marL="0" indent="0">
              <a:buNone/>
            </a:pPr>
            <a:r>
              <a:rPr lang="en-US" sz="1600" b="1" dirty="0">
                <a:solidFill>
                  <a:srgbClr val="0B1F3A"/>
                </a:solidFill>
              </a:rPr>
              <a:t>Results</a:t>
            </a:r>
            <a:endParaRPr lang="en-US" sz="1500" dirty="0"/>
          </a:p>
        </p:txBody>
      </p:sp>
      <p:sp>
        <p:nvSpPr>
          <p:cNvPr id="9" name="Text 6"/>
          <p:cNvSpPr/>
          <p:nvPr/>
        </p:nvSpPr>
        <p:spPr>
          <a:xfrm>
            <a:off x="8554916" y="1645919"/>
            <a:ext cx="3459481" cy="1871003"/>
          </a:xfrm>
          <a:prstGeom prst="rect">
            <a:avLst/>
          </a:prstGeom>
          <a:noFill/>
          <a:ln/>
        </p:spPr>
        <p:txBody>
          <a:bodyPr wrap="square" lIns="254" tIns="254" rIns="254" bIns="254" rtlCol="0" anchor="ctr">
            <a:normAutofit/>
          </a:bodyPr>
          <a:lstStyle/>
          <a:p>
            <a:pPr marL="285750" indent="-285750">
              <a:buFont typeface="Arial" panose="020B0604020202020204" pitchFamily="34" charset="0"/>
              <a:buChar char="•"/>
            </a:pPr>
            <a:r>
              <a:rPr lang="en-US" sz="1600" dirty="0">
                <a:solidFill>
                  <a:srgbClr val="111827"/>
                </a:solidFill>
              </a:rPr>
              <a:t>25/27 countries contracted in 2020.</a:t>
            </a:r>
            <a:endParaRPr lang="en-US" sz="1600" dirty="0"/>
          </a:p>
          <a:p>
            <a:pPr marL="285750" indent="-285750">
              <a:buFont typeface="Arial" panose="020B0604020202020204" pitchFamily="34" charset="0"/>
              <a:buChar char="•"/>
            </a:pPr>
            <a:r>
              <a:rPr lang="en-US" sz="1600" dirty="0">
                <a:solidFill>
                  <a:srgbClr val="111827"/>
                </a:solidFill>
              </a:rPr>
              <a:t>17 first recovered in 2021; 8 in 2022.</a:t>
            </a:r>
            <a:endParaRPr lang="en-US" sz="1600" dirty="0"/>
          </a:p>
          <a:p>
            <a:pPr marL="285750" indent="-285750">
              <a:buFont typeface="Arial" panose="020B0604020202020204" pitchFamily="34" charset="0"/>
              <a:buChar char="•"/>
            </a:pPr>
            <a:r>
              <a:rPr lang="en-US" sz="1600" dirty="0">
                <a:solidFill>
                  <a:srgbClr val="111827"/>
                </a:solidFill>
              </a:rPr>
              <a:t>By 2024, 24 of the 25 were back at or above 2019 levels.</a:t>
            </a:r>
            <a:endParaRPr lang="en-US" sz="1600" dirty="0"/>
          </a:p>
          <a:p>
            <a:pPr marL="285750" indent="-285750">
              <a:buFont typeface="Arial" panose="020B0604020202020204" pitchFamily="34" charset="0"/>
              <a:buChar char="•"/>
            </a:pPr>
            <a:r>
              <a:rPr lang="en-US" sz="1600" dirty="0">
                <a:solidFill>
                  <a:srgbClr val="111827"/>
                </a:solidFill>
              </a:rPr>
              <a:t>Finland was marginally below baseline at 99.95.</a:t>
            </a:r>
            <a:endParaRPr lang="en-US" sz="1600" dirty="0"/>
          </a:p>
        </p:txBody>
      </p:sp>
      <p:sp>
        <p:nvSpPr>
          <p:cNvPr id="10" name="Shape 7"/>
          <p:cNvSpPr/>
          <p:nvPr/>
        </p:nvSpPr>
        <p:spPr>
          <a:xfrm>
            <a:off x="8732520" y="5349240"/>
            <a:ext cx="2240280" cy="310896"/>
          </a:xfrm>
          <a:prstGeom prst="roundRect">
            <a:avLst>
              <a:gd name="adj" fmla="val 23529"/>
            </a:avLst>
          </a:prstGeom>
          <a:solidFill>
            <a:srgbClr val="1B998B"/>
          </a:solidFill>
          <a:ln w="12700">
            <a:solidFill>
              <a:srgbClr val="1B998B"/>
            </a:solidFill>
            <a:prstDash val="solid"/>
          </a:ln>
        </p:spPr>
        <p:txBody>
          <a:bodyPr/>
          <a:lstStyle/>
          <a:p>
            <a:endParaRPr lang="en-IL"/>
          </a:p>
        </p:txBody>
      </p:sp>
      <p:sp>
        <p:nvSpPr>
          <p:cNvPr id="11" name="Text 8"/>
          <p:cNvSpPr/>
          <p:nvPr/>
        </p:nvSpPr>
        <p:spPr>
          <a:xfrm>
            <a:off x="8805672" y="5408676"/>
            <a:ext cx="2093976"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rPr>
              <a:t>Hypothesis supported</a:t>
            </a:r>
            <a:endParaRPr lang="en-US" sz="1400" dirty="0"/>
          </a:p>
        </p:txBody>
      </p:sp>
      <p:pic>
        <p:nvPicPr>
          <p:cNvPr id="13" name="Picture 12">
            <a:extLst>
              <a:ext uri="{FF2B5EF4-FFF2-40B4-BE49-F238E27FC236}">
                <a16:creationId xmlns:a16="http://schemas.microsoft.com/office/drawing/2014/main" id="{FC35F41B-D48F-7718-620D-D29677BB72E1}"/>
              </a:ext>
            </a:extLst>
          </p:cNvPr>
          <p:cNvPicPr>
            <a:picLocks noChangeAspect="1"/>
          </p:cNvPicPr>
          <p:nvPr/>
        </p:nvPicPr>
        <p:blipFill>
          <a:blip r:embed="rId3"/>
          <a:stretch>
            <a:fillRect/>
          </a:stretch>
        </p:blipFill>
        <p:spPr>
          <a:xfrm>
            <a:off x="0" y="1143000"/>
            <a:ext cx="8554916" cy="50773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Finding 2: higher 2022 inflation did not reliably predict 2023 growth</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r>
              <a:rPr lang="en-US" sz="1220" dirty="0">
                <a:solidFill>
                  <a:srgbClr val="6B7280"/>
                </a:solidFill>
              </a:rPr>
              <a:t>The relationship was weak and not statistically significant.</a:t>
            </a: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7/10</a:t>
            </a:r>
            <a:endParaRPr lang="en-US" sz="850" dirty="0"/>
          </a:p>
        </p:txBody>
      </p:sp>
      <p:pic>
        <p:nvPicPr>
          <p:cNvPr id="7" name="Image 0" descr="/mnt/data/eu_recovery_assets/rq2_inflation_growth_scatter.png"/>
          <p:cNvPicPr>
            <a:picLocks noChangeAspect="1"/>
          </p:cNvPicPr>
          <p:nvPr/>
        </p:nvPicPr>
        <p:blipFill>
          <a:blip r:embed="rId3"/>
          <a:stretch>
            <a:fillRect/>
          </a:stretch>
        </p:blipFill>
        <p:spPr>
          <a:xfrm>
            <a:off x="0" y="1261872"/>
            <a:ext cx="8006845" cy="4946904"/>
          </a:xfrm>
          <a:prstGeom prst="rect">
            <a:avLst/>
          </a:prstGeom>
        </p:spPr>
      </p:pic>
      <p:sp>
        <p:nvSpPr>
          <p:cNvPr id="8" name="Text 5"/>
          <p:cNvSpPr/>
          <p:nvPr/>
        </p:nvSpPr>
        <p:spPr>
          <a:xfrm>
            <a:off x="8183880" y="1280160"/>
            <a:ext cx="3200400" cy="274320"/>
          </a:xfrm>
          <a:prstGeom prst="rect">
            <a:avLst/>
          </a:prstGeom>
          <a:noFill/>
          <a:ln/>
        </p:spPr>
        <p:txBody>
          <a:bodyPr wrap="square" lIns="0" tIns="0" rIns="0" bIns="0" rtlCol="0" anchor="ctr"/>
          <a:lstStyle/>
          <a:p>
            <a:pPr marL="0" indent="0">
              <a:buNone/>
            </a:pPr>
            <a:r>
              <a:rPr lang="en-US" sz="1600" b="1" dirty="0">
                <a:solidFill>
                  <a:srgbClr val="0B1F3A"/>
                </a:solidFill>
              </a:rPr>
              <a:t>Correlation results</a:t>
            </a:r>
            <a:endParaRPr lang="en-US" sz="1600" dirty="0"/>
          </a:p>
        </p:txBody>
      </p:sp>
      <p:sp>
        <p:nvSpPr>
          <p:cNvPr id="9" name="Shape 6"/>
          <p:cNvSpPr/>
          <p:nvPr/>
        </p:nvSpPr>
        <p:spPr>
          <a:xfrm>
            <a:off x="8183880" y="1691640"/>
            <a:ext cx="1234440" cy="320040"/>
          </a:xfrm>
          <a:prstGeom prst="rect">
            <a:avLst/>
          </a:prstGeom>
          <a:solidFill>
            <a:srgbClr val="0B1F3A"/>
          </a:solidFill>
          <a:ln w="8890">
            <a:solidFill>
              <a:srgbClr val="D9DEE8"/>
            </a:solidFill>
            <a:prstDash val="solid"/>
          </a:ln>
        </p:spPr>
        <p:txBody>
          <a:bodyPr/>
          <a:lstStyle/>
          <a:p>
            <a:endParaRPr lang="en-IL" sz="2400" dirty="0"/>
          </a:p>
        </p:txBody>
      </p:sp>
      <p:sp>
        <p:nvSpPr>
          <p:cNvPr id="10" name="Text 7"/>
          <p:cNvSpPr/>
          <p:nvPr/>
        </p:nvSpPr>
        <p:spPr>
          <a:xfrm>
            <a:off x="8220456" y="1746504"/>
            <a:ext cx="1161288" cy="246888"/>
          </a:xfrm>
          <a:prstGeom prst="rect">
            <a:avLst/>
          </a:prstGeom>
          <a:noFill/>
          <a:ln/>
        </p:spPr>
        <p:txBody>
          <a:bodyPr wrap="square" lIns="0" tIns="0" rIns="0" bIns="0" rtlCol="0" anchor="ctr">
            <a:normAutofit/>
          </a:bodyPr>
          <a:lstStyle/>
          <a:p>
            <a:pPr marL="0" indent="0" algn="l">
              <a:buNone/>
            </a:pPr>
            <a:r>
              <a:rPr lang="en-US" sz="1400" b="1" dirty="0">
                <a:solidFill>
                  <a:srgbClr val="FFFFFF"/>
                </a:solidFill>
              </a:rPr>
              <a:t>Test</a:t>
            </a:r>
            <a:endParaRPr lang="en-US" sz="1400" dirty="0"/>
          </a:p>
        </p:txBody>
      </p:sp>
      <p:sp>
        <p:nvSpPr>
          <p:cNvPr id="11" name="Shape 8"/>
          <p:cNvSpPr/>
          <p:nvPr/>
        </p:nvSpPr>
        <p:spPr>
          <a:xfrm>
            <a:off x="9418320" y="1691640"/>
            <a:ext cx="960120" cy="320040"/>
          </a:xfrm>
          <a:prstGeom prst="rect">
            <a:avLst/>
          </a:prstGeom>
          <a:solidFill>
            <a:srgbClr val="0B1F3A"/>
          </a:solidFill>
          <a:ln w="8890">
            <a:solidFill>
              <a:srgbClr val="D9DEE8"/>
            </a:solidFill>
            <a:prstDash val="solid"/>
          </a:ln>
        </p:spPr>
        <p:txBody>
          <a:bodyPr/>
          <a:lstStyle/>
          <a:p>
            <a:endParaRPr lang="en-IL"/>
          </a:p>
        </p:txBody>
      </p:sp>
      <p:sp>
        <p:nvSpPr>
          <p:cNvPr id="12" name="Text 9"/>
          <p:cNvSpPr/>
          <p:nvPr/>
        </p:nvSpPr>
        <p:spPr>
          <a:xfrm>
            <a:off x="9454896" y="1746504"/>
            <a:ext cx="886968" cy="24688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r / ρ</a:t>
            </a:r>
            <a:endParaRPr lang="en-US" sz="1400" dirty="0"/>
          </a:p>
        </p:txBody>
      </p:sp>
      <p:sp>
        <p:nvSpPr>
          <p:cNvPr id="13" name="Shape 10"/>
          <p:cNvSpPr/>
          <p:nvPr/>
        </p:nvSpPr>
        <p:spPr>
          <a:xfrm>
            <a:off x="10378440" y="1691640"/>
            <a:ext cx="1051560" cy="320040"/>
          </a:xfrm>
          <a:prstGeom prst="rect">
            <a:avLst/>
          </a:prstGeom>
          <a:solidFill>
            <a:srgbClr val="0B1F3A"/>
          </a:solidFill>
          <a:ln w="8890">
            <a:solidFill>
              <a:srgbClr val="D9DEE8"/>
            </a:solidFill>
            <a:prstDash val="solid"/>
          </a:ln>
        </p:spPr>
        <p:txBody>
          <a:bodyPr/>
          <a:lstStyle/>
          <a:p>
            <a:endParaRPr lang="en-IL" sz="2400"/>
          </a:p>
        </p:txBody>
      </p:sp>
      <p:sp>
        <p:nvSpPr>
          <p:cNvPr id="14" name="Text 11"/>
          <p:cNvSpPr/>
          <p:nvPr/>
        </p:nvSpPr>
        <p:spPr>
          <a:xfrm>
            <a:off x="10415016" y="1746504"/>
            <a:ext cx="978408" cy="24688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p-value</a:t>
            </a:r>
            <a:endParaRPr lang="en-US" sz="1400" dirty="0"/>
          </a:p>
        </p:txBody>
      </p:sp>
      <p:sp>
        <p:nvSpPr>
          <p:cNvPr id="15" name="Shape 12"/>
          <p:cNvSpPr/>
          <p:nvPr/>
        </p:nvSpPr>
        <p:spPr>
          <a:xfrm>
            <a:off x="8183880" y="2011680"/>
            <a:ext cx="1234440" cy="320040"/>
          </a:xfrm>
          <a:prstGeom prst="rect">
            <a:avLst/>
          </a:prstGeom>
          <a:solidFill>
            <a:srgbClr val="FFFFFF"/>
          </a:solidFill>
          <a:ln w="8890">
            <a:solidFill>
              <a:srgbClr val="D9DEE8"/>
            </a:solidFill>
            <a:prstDash val="solid"/>
          </a:ln>
        </p:spPr>
        <p:txBody>
          <a:bodyPr/>
          <a:lstStyle/>
          <a:p>
            <a:endParaRPr lang="en-IL" sz="2400"/>
          </a:p>
        </p:txBody>
      </p:sp>
      <p:sp>
        <p:nvSpPr>
          <p:cNvPr id="16" name="Text 13"/>
          <p:cNvSpPr/>
          <p:nvPr/>
        </p:nvSpPr>
        <p:spPr>
          <a:xfrm>
            <a:off x="8220456" y="2066544"/>
            <a:ext cx="1161288" cy="246888"/>
          </a:xfrm>
          <a:prstGeom prst="rect">
            <a:avLst/>
          </a:prstGeom>
          <a:noFill/>
          <a:ln/>
        </p:spPr>
        <p:txBody>
          <a:bodyPr wrap="square" lIns="0" tIns="0" rIns="0" bIns="0" rtlCol="0" anchor="ctr">
            <a:normAutofit/>
          </a:bodyPr>
          <a:lstStyle/>
          <a:p>
            <a:pPr marL="0" indent="0" algn="l">
              <a:buNone/>
            </a:pPr>
            <a:r>
              <a:rPr lang="en-US" sz="1400" dirty="0">
                <a:solidFill>
                  <a:srgbClr val="111827"/>
                </a:solidFill>
              </a:rPr>
              <a:t>Pearson</a:t>
            </a:r>
            <a:endParaRPr lang="en-US" sz="1400" dirty="0"/>
          </a:p>
        </p:txBody>
      </p:sp>
      <p:sp>
        <p:nvSpPr>
          <p:cNvPr id="17" name="Shape 14"/>
          <p:cNvSpPr/>
          <p:nvPr/>
        </p:nvSpPr>
        <p:spPr>
          <a:xfrm>
            <a:off x="9418320" y="2011680"/>
            <a:ext cx="960120" cy="320040"/>
          </a:xfrm>
          <a:prstGeom prst="rect">
            <a:avLst/>
          </a:prstGeom>
          <a:solidFill>
            <a:srgbClr val="FFFFFF"/>
          </a:solidFill>
          <a:ln w="8890">
            <a:solidFill>
              <a:srgbClr val="D9DEE8"/>
            </a:solidFill>
            <a:prstDash val="solid"/>
          </a:ln>
        </p:spPr>
        <p:txBody>
          <a:bodyPr/>
          <a:lstStyle/>
          <a:p>
            <a:endParaRPr lang="en-IL"/>
          </a:p>
        </p:txBody>
      </p:sp>
      <p:sp>
        <p:nvSpPr>
          <p:cNvPr id="18" name="Text 15"/>
          <p:cNvSpPr/>
          <p:nvPr/>
        </p:nvSpPr>
        <p:spPr>
          <a:xfrm>
            <a:off x="9454896" y="2066544"/>
            <a:ext cx="88696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-0.289</a:t>
            </a:r>
            <a:endParaRPr lang="en-US" sz="1400" dirty="0"/>
          </a:p>
        </p:txBody>
      </p:sp>
      <p:sp>
        <p:nvSpPr>
          <p:cNvPr id="19" name="Shape 16"/>
          <p:cNvSpPr/>
          <p:nvPr/>
        </p:nvSpPr>
        <p:spPr>
          <a:xfrm>
            <a:off x="10378440" y="2011680"/>
            <a:ext cx="1051560" cy="320040"/>
          </a:xfrm>
          <a:prstGeom prst="rect">
            <a:avLst/>
          </a:prstGeom>
          <a:solidFill>
            <a:srgbClr val="FFFFFF"/>
          </a:solidFill>
          <a:ln w="8890">
            <a:solidFill>
              <a:srgbClr val="D9DEE8"/>
            </a:solidFill>
            <a:prstDash val="solid"/>
          </a:ln>
        </p:spPr>
        <p:txBody>
          <a:bodyPr/>
          <a:lstStyle/>
          <a:p>
            <a:endParaRPr lang="en-IL" sz="2400"/>
          </a:p>
        </p:txBody>
      </p:sp>
      <p:sp>
        <p:nvSpPr>
          <p:cNvPr id="20" name="Text 17"/>
          <p:cNvSpPr/>
          <p:nvPr/>
        </p:nvSpPr>
        <p:spPr>
          <a:xfrm>
            <a:off x="10415016" y="2066544"/>
            <a:ext cx="97840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0.1438</a:t>
            </a:r>
            <a:endParaRPr lang="en-US" sz="1400" dirty="0"/>
          </a:p>
        </p:txBody>
      </p:sp>
      <p:sp>
        <p:nvSpPr>
          <p:cNvPr id="21" name="Shape 18"/>
          <p:cNvSpPr/>
          <p:nvPr/>
        </p:nvSpPr>
        <p:spPr>
          <a:xfrm>
            <a:off x="8183880" y="2331720"/>
            <a:ext cx="1234440" cy="320040"/>
          </a:xfrm>
          <a:prstGeom prst="rect">
            <a:avLst/>
          </a:prstGeom>
          <a:solidFill>
            <a:srgbClr val="FFFFFF"/>
          </a:solidFill>
          <a:ln w="8890">
            <a:solidFill>
              <a:srgbClr val="D9DEE8"/>
            </a:solidFill>
            <a:prstDash val="solid"/>
          </a:ln>
        </p:spPr>
        <p:txBody>
          <a:bodyPr/>
          <a:lstStyle/>
          <a:p>
            <a:endParaRPr lang="en-IL"/>
          </a:p>
        </p:txBody>
      </p:sp>
      <p:sp>
        <p:nvSpPr>
          <p:cNvPr id="22" name="Text 19"/>
          <p:cNvSpPr/>
          <p:nvPr/>
        </p:nvSpPr>
        <p:spPr>
          <a:xfrm>
            <a:off x="8220456" y="2386584"/>
            <a:ext cx="1161288" cy="246888"/>
          </a:xfrm>
          <a:prstGeom prst="rect">
            <a:avLst/>
          </a:prstGeom>
          <a:noFill/>
          <a:ln/>
        </p:spPr>
        <p:txBody>
          <a:bodyPr wrap="square" lIns="0" tIns="0" rIns="0" bIns="0" rtlCol="0" anchor="ctr">
            <a:normAutofit/>
          </a:bodyPr>
          <a:lstStyle/>
          <a:p>
            <a:pPr marL="0" indent="0" algn="l">
              <a:buNone/>
            </a:pPr>
            <a:r>
              <a:rPr lang="en-US" sz="1400" dirty="0">
                <a:solidFill>
                  <a:srgbClr val="111827"/>
                </a:solidFill>
              </a:rPr>
              <a:t>Spearman</a:t>
            </a:r>
            <a:endParaRPr lang="en-US" sz="1400" dirty="0"/>
          </a:p>
        </p:txBody>
      </p:sp>
      <p:sp>
        <p:nvSpPr>
          <p:cNvPr id="23" name="Shape 20"/>
          <p:cNvSpPr/>
          <p:nvPr/>
        </p:nvSpPr>
        <p:spPr>
          <a:xfrm>
            <a:off x="9418320" y="2331720"/>
            <a:ext cx="960120" cy="320040"/>
          </a:xfrm>
          <a:prstGeom prst="rect">
            <a:avLst/>
          </a:prstGeom>
          <a:solidFill>
            <a:srgbClr val="FFFFFF"/>
          </a:solidFill>
          <a:ln w="8890">
            <a:solidFill>
              <a:srgbClr val="D9DEE8"/>
            </a:solidFill>
            <a:prstDash val="solid"/>
          </a:ln>
        </p:spPr>
        <p:txBody>
          <a:bodyPr/>
          <a:lstStyle/>
          <a:p>
            <a:endParaRPr lang="en-IL" sz="2400"/>
          </a:p>
        </p:txBody>
      </p:sp>
      <p:sp>
        <p:nvSpPr>
          <p:cNvPr id="24" name="Text 21"/>
          <p:cNvSpPr/>
          <p:nvPr/>
        </p:nvSpPr>
        <p:spPr>
          <a:xfrm>
            <a:off x="9454896" y="2386584"/>
            <a:ext cx="88696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-0.112</a:t>
            </a:r>
            <a:endParaRPr lang="en-US" sz="1400" dirty="0"/>
          </a:p>
        </p:txBody>
      </p:sp>
      <p:sp>
        <p:nvSpPr>
          <p:cNvPr id="25" name="Shape 22"/>
          <p:cNvSpPr/>
          <p:nvPr/>
        </p:nvSpPr>
        <p:spPr>
          <a:xfrm>
            <a:off x="10378440" y="2331720"/>
            <a:ext cx="1051560" cy="320040"/>
          </a:xfrm>
          <a:prstGeom prst="rect">
            <a:avLst/>
          </a:prstGeom>
          <a:solidFill>
            <a:srgbClr val="FFFFFF"/>
          </a:solidFill>
          <a:ln w="8890">
            <a:solidFill>
              <a:srgbClr val="D9DEE8"/>
            </a:solidFill>
            <a:prstDash val="solid"/>
          </a:ln>
        </p:spPr>
        <p:txBody>
          <a:bodyPr/>
          <a:lstStyle/>
          <a:p>
            <a:endParaRPr lang="en-IL" sz="2400"/>
          </a:p>
        </p:txBody>
      </p:sp>
      <p:sp>
        <p:nvSpPr>
          <p:cNvPr id="26" name="Text 23"/>
          <p:cNvSpPr/>
          <p:nvPr/>
        </p:nvSpPr>
        <p:spPr>
          <a:xfrm>
            <a:off x="10415016" y="2386584"/>
            <a:ext cx="97840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0.5790</a:t>
            </a:r>
            <a:endParaRPr lang="en-US" sz="1400" dirty="0"/>
          </a:p>
        </p:txBody>
      </p:sp>
      <p:sp>
        <p:nvSpPr>
          <p:cNvPr id="27" name="Text 24"/>
          <p:cNvSpPr/>
          <p:nvPr/>
        </p:nvSpPr>
        <p:spPr>
          <a:xfrm>
            <a:off x="8183879" y="2971800"/>
            <a:ext cx="3644705" cy="1152144"/>
          </a:xfrm>
          <a:prstGeom prst="rect">
            <a:avLst/>
          </a:prstGeom>
          <a:noFill/>
          <a:ln/>
        </p:spPr>
        <p:txBody>
          <a:bodyPr wrap="square" lIns="254" tIns="254" rIns="254" bIns="254" rtlCol="0" anchor="ctr">
            <a:normAutofit lnSpcReduction="10000"/>
          </a:bodyPr>
          <a:lstStyle/>
          <a:p>
            <a:pPr marL="285750" indent="-285750">
              <a:buFont typeface="Arial" panose="020B0604020202020204" pitchFamily="34" charset="0"/>
              <a:buChar char="•"/>
            </a:pPr>
            <a:r>
              <a:rPr lang="en-US" sz="1600" dirty="0">
                <a:solidFill>
                  <a:srgbClr val="111827"/>
                </a:solidFill>
              </a:rPr>
              <a:t>Above-average inflation group: 0.63% average GDP growth.</a:t>
            </a:r>
            <a:endParaRPr lang="en-US" sz="1600" dirty="0"/>
          </a:p>
          <a:p>
            <a:pPr marL="285750" indent="-285750">
              <a:buFont typeface="Arial" panose="020B0604020202020204" pitchFamily="34" charset="0"/>
              <a:buChar char="•"/>
            </a:pPr>
            <a:r>
              <a:rPr lang="en-US" sz="1600" dirty="0">
                <a:solidFill>
                  <a:srgbClr val="111827"/>
                </a:solidFill>
              </a:rPr>
              <a:t>At/below-average group: 1.33%.</a:t>
            </a:r>
            <a:endParaRPr lang="en-US" sz="1600" dirty="0"/>
          </a:p>
          <a:p>
            <a:pPr marL="285750" indent="-285750">
              <a:buFont typeface="Arial" panose="020B0604020202020204" pitchFamily="34" charset="0"/>
              <a:buChar char="•"/>
            </a:pPr>
            <a:r>
              <a:rPr lang="en-US" sz="1600" dirty="0">
                <a:solidFill>
                  <a:srgbClr val="111827"/>
                </a:solidFill>
              </a:rPr>
              <a:t>But Malta strongly influences this comparison.</a:t>
            </a:r>
            <a:endParaRPr lang="en-US" sz="1600" dirty="0"/>
          </a:p>
        </p:txBody>
      </p:sp>
      <p:sp>
        <p:nvSpPr>
          <p:cNvPr id="28" name="Shape 25"/>
          <p:cNvSpPr/>
          <p:nvPr/>
        </p:nvSpPr>
        <p:spPr>
          <a:xfrm>
            <a:off x="8183880" y="5303520"/>
            <a:ext cx="3246120" cy="310896"/>
          </a:xfrm>
          <a:prstGeom prst="roundRect">
            <a:avLst>
              <a:gd name="adj" fmla="val 23529"/>
            </a:avLst>
          </a:prstGeom>
          <a:solidFill>
            <a:srgbClr val="D1495B"/>
          </a:solidFill>
          <a:ln w="12700">
            <a:solidFill>
              <a:srgbClr val="D1495B"/>
            </a:solidFill>
            <a:prstDash val="solid"/>
          </a:ln>
        </p:spPr>
        <p:txBody>
          <a:bodyPr/>
          <a:lstStyle/>
          <a:p>
            <a:endParaRPr lang="en-IL"/>
          </a:p>
        </p:txBody>
      </p:sp>
      <p:sp>
        <p:nvSpPr>
          <p:cNvPr id="29" name="Text 26"/>
          <p:cNvSpPr/>
          <p:nvPr/>
        </p:nvSpPr>
        <p:spPr>
          <a:xfrm>
            <a:off x="8257032" y="5362956"/>
            <a:ext cx="3099816"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rPr>
              <a:t>Hypothesis not statistically supported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Finding 3: disinflation did not consistently raise unemployment</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r>
              <a:rPr lang="en-US" sz="1220" dirty="0">
                <a:solidFill>
                  <a:srgbClr val="6B7280"/>
                </a:solidFill>
              </a:rPr>
              <a:t>Inflation fell everywhere; labour-market outcomes were mixed.</a:t>
            </a: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8/10</a:t>
            </a:r>
            <a:endParaRPr lang="en-US" sz="850" dirty="0"/>
          </a:p>
        </p:txBody>
      </p:sp>
      <p:pic>
        <p:nvPicPr>
          <p:cNvPr id="7" name="Image 0" descr="/mnt/data/eu_recovery_assets/rq3_inflation_unemployment_scatter.png"/>
          <p:cNvPicPr>
            <a:picLocks noChangeAspect="1"/>
          </p:cNvPicPr>
          <p:nvPr/>
        </p:nvPicPr>
        <p:blipFill>
          <a:blip r:embed="rId3"/>
          <a:stretch>
            <a:fillRect/>
          </a:stretch>
        </p:blipFill>
        <p:spPr>
          <a:xfrm>
            <a:off x="1" y="1261872"/>
            <a:ext cx="7772400" cy="4802056"/>
          </a:xfrm>
          <a:prstGeom prst="rect">
            <a:avLst/>
          </a:prstGeom>
        </p:spPr>
      </p:pic>
      <p:sp>
        <p:nvSpPr>
          <p:cNvPr id="8" name="Text 5"/>
          <p:cNvSpPr/>
          <p:nvPr/>
        </p:nvSpPr>
        <p:spPr>
          <a:xfrm>
            <a:off x="8183880" y="1234440"/>
            <a:ext cx="3474720" cy="292608"/>
          </a:xfrm>
          <a:prstGeom prst="rect">
            <a:avLst/>
          </a:prstGeom>
          <a:noFill/>
          <a:ln/>
        </p:spPr>
        <p:txBody>
          <a:bodyPr wrap="square" lIns="0" tIns="0" rIns="0" bIns="0" rtlCol="0" anchor="ctr"/>
          <a:lstStyle/>
          <a:p>
            <a:pPr marL="0" indent="0">
              <a:buNone/>
            </a:pPr>
            <a:r>
              <a:rPr lang="en-US" sz="1600" b="1" dirty="0">
                <a:solidFill>
                  <a:srgbClr val="0B1F3A"/>
                </a:solidFill>
              </a:rPr>
              <a:t>What changed in unemployment?</a:t>
            </a:r>
            <a:endParaRPr lang="en-US" sz="1600" dirty="0"/>
          </a:p>
        </p:txBody>
      </p:sp>
      <p:sp>
        <p:nvSpPr>
          <p:cNvPr id="9" name="Text 6"/>
          <p:cNvSpPr/>
          <p:nvPr/>
        </p:nvSpPr>
        <p:spPr>
          <a:xfrm>
            <a:off x="8138160" y="1737360"/>
            <a:ext cx="1005840" cy="530352"/>
          </a:xfrm>
          <a:prstGeom prst="rect">
            <a:avLst/>
          </a:prstGeom>
          <a:noFill/>
          <a:ln/>
        </p:spPr>
        <p:txBody>
          <a:bodyPr wrap="square" lIns="0" tIns="0" rIns="0" bIns="0" rtlCol="0" anchor="ctr"/>
          <a:lstStyle/>
          <a:p>
            <a:pPr marL="0" indent="0" algn="ctr">
              <a:buNone/>
            </a:pPr>
            <a:r>
              <a:rPr lang="en-US" sz="3000" b="1" dirty="0">
                <a:solidFill>
                  <a:srgbClr val="0B1F3A"/>
                </a:solidFill>
              </a:rPr>
              <a:t>16</a:t>
            </a:r>
            <a:endParaRPr lang="en-US" sz="3000" dirty="0"/>
          </a:p>
        </p:txBody>
      </p:sp>
      <p:sp>
        <p:nvSpPr>
          <p:cNvPr id="10" name="Text 7"/>
          <p:cNvSpPr/>
          <p:nvPr/>
        </p:nvSpPr>
        <p:spPr>
          <a:xfrm>
            <a:off x="8138160" y="2267712"/>
            <a:ext cx="1005840" cy="384048"/>
          </a:xfrm>
          <a:prstGeom prst="rect">
            <a:avLst/>
          </a:prstGeom>
          <a:noFill/>
          <a:ln/>
        </p:spPr>
        <p:txBody>
          <a:bodyPr wrap="square" lIns="0" tIns="0" rIns="0" bIns="0" rtlCol="0" anchor="ctr">
            <a:normAutofit/>
          </a:bodyPr>
          <a:lstStyle/>
          <a:p>
            <a:pPr marL="0" indent="0" algn="ctr">
              <a:buNone/>
            </a:pPr>
            <a:r>
              <a:rPr lang="en-US" sz="1400" dirty="0">
                <a:solidFill>
                  <a:srgbClr val="6B7280"/>
                </a:solidFill>
              </a:rPr>
              <a:t>increased</a:t>
            </a:r>
            <a:endParaRPr lang="en-US" sz="1400" dirty="0"/>
          </a:p>
        </p:txBody>
      </p:sp>
      <p:sp>
        <p:nvSpPr>
          <p:cNvPr id="11" name="Text 8"/>
          <p:cNvSpPr/>
          <p:nvPr/>
        </p:nvSpPr>
        <p:spPr>
          <a:xfrm>
            <a:off x="9235440" y="1737360"/>
            <a:ext cx="1005840" cy="530352"/>
          </a:xfrm>
          <a:prstGeom prst="rect">
            <a:avLst/>
          </a:prstGeom>
          <a:noFill/>
          <a:ln/>
        </p:spPr>
        <p:txBody>
          <a:bodyPr wrap="square" lIns="0" tIns="0" rIns="0" bIns="0" rtlCol="0" anchor="ctr"/>
          <a:lstStyle/>
          <a:p>
            <a:pPr marL="0" indent="0" algn="ctr">
              <a:buNone/>
            </a:pPr>
            <a:r>
              <a:rPr lang="en-US" sz="3000" b="1" dirty="0">
                <a:solidFill>
                  <a:srgbClr val="0B1F3A"/>
                </a:solidFill>
              </a:rPr>
              <a:t>10</a:t>
            </a:r>
            <a:endParaRPr lang="en-US" sz="3000" dirty="0"/>
          </a:p>
        </p:txBody>
      </p:sp>
      <p:sp>
        <p:nvSpPr>
          <p:cNvPr id="12" name="Text 9"/>
          <p:cNvSpPr/>
          <p:nvPr/>
        </p:nvSpPr>
        <p:spPr>
          <a:xfrm>
            <a:off x="9235440" y="2267712"/>
            <a:ext cx="1005840" cy="384048"/>
          </a:xfrm>
          <a:prstGeom prst="rect">
            <a:avLst/>
          </a:prstGeom>
          <a:noFill/>
          <a:ln/>
        </p:spPr>
        <p:txBody>
          <a:bodyPr wrap="square" lIns="0" tIns="0" rIns="0" bIns="0" rtlCol="0" anchor="ctr">
            <a:normAutofit/>
          </a:bodyPr>
          <a:lstStyle/>
          <a:p>
            <a:pPr marL="0" indent="0" algn="ctr">
              <a:buNone/>
            </a:pPr>
            <a:r>
              <a:rPr lang="en-US" sz="1400" dirty="0">
                <a:solidFill>
                  <a:srgbClr val="6B7280"/>
                </a:solidFill>
              </a:rPr>
              <a:t>decreased</a:t>
            </a:r>
            <a:endParaRPr lang="en-US" sz="1400" dirty="0"/>
          </a:p>
        </p:txBody>
      </p:sp>
      <p:sp>
        <p:nvSpPr>
          <p:cNvPr id="13" name="Text 10"/>
          <p:cNvSpPr/>
          <p:nvPr/>
        </p:nvSpPr>
        <p:spPr>
          <a:xfrm>
            <a:off x="10332720" y="1737360"/>
            <a:ext cx="1005840" cy="530352"/>
          </a:xfrm>
          <a:prstGeom prst="rect">
            <a:avLst/>
          </a:prstGeom>
          <a:noFill/>
          <a:ln/>
        </p:spPr>
        <p:txBody>
          <a:bodyPr wrap="square" lIns="0" tIns="0" rIns="0" bIns="0" rtlCol="0" anchor="ctr"/>
          <a:lstStyle/>
          <a:p>
            <a:pPr marL="0" indent="0" algn="ctr">
              <a:buNone/>
            </a:pPr>
            <a:r>
              <a:rPr lang="en-US" sz="3000" b="1" dirty="0">
                <a:solidFill>
                  <a:srgbClr val="0B1F3A"/>
                </a:solidFill>
              </a:rPr>
              <a:t>1</a:t>
            </a:r>
            <a:endParaRPr lang="en-US" sz="3000" dirty="0"/>
          </a:p>
        </p:txBody>
      </p:sp>
      <p:sp>
        <p:nvSpPr>
          <p:cNvPr id="14" name="Text 11"/>
          <p:cNvSpPr/>
          <p:nvPr/>
        </p:nvSpPr>
        <p:spPr>
          <a:xfrm>
            <a:off x="10332720" y="2267712"/>
            <a:ext cx="1005840" cy="384048"/>
          </a:xfrm>
          <a:prstGeom prst="rect">
            <a:avLst/>
          </a:prstGeom>
          <a:noFill/>
          <a:ln/>
        </p:spPr>
        <p:txBody>
          <a:bodyPr wrap="square" lIns="0" tIns="0" rIns="0" bIns="0" rtlCol="0" anchor="ctr">
            <a:normAutofit/>
          </a:bodyPr>
          <a:lstStyle/>
          <a:p>
            <a:pPr marL="0" indent="0" algn="ctr">
              <a:buNone/>
            </a:pPr>
            <a:r>
              <a:rPr lang="en-US" sz="1400" dirty="0">
                <a:solidFill>
                  <a:srgbClr val="6B7280"/>
                </a:solidFill>
              </a:rPr>
              <a:t>unchanged</a:t>
            </a:r>
            <a:endParaRPr lang="en-US" sz="1400" dirty="0"/>
          </a:p>
        </p:txBody>
      </p:sp>
      <p:sp>
        <p:nvSpPr>
          <p:cNvPr id="15" name="Text 12"/>
          <p:cNvSpPr/>
          <p:nvPr/>
        </p:nvSpPr>
        <p:spPr>
          <a:xfrm>
            <a:off x="8183880" y="3246120"/>
            <a:ext cx="3291840" cy="256032"/>
          </a:xfrm>
          <a:prstGeom prst="rect">
            <a:avLst/>
          </a:prstGeom>
          <a:noFill/>
          <a:ln/>
        </p:spPr>
        <p:txBody>
          <a:bodyPr wrap="square" lIns="0" tIns="0" rIns="0" bIns="0" rtlCol="0" anchor="ctr"/>
          <a:lstStyle/>
          <a:p>
            <a:pPr marL="0" indent="0">
              <a:buNone/>
            </a:pPr>
            <a:r>
              <a:rPr lang="en-US" sz="1600" b="1" dirty="0">
                <a:solidFill>
                  <a:srgbClr val="0B1F3A"/>
                </a:solidFill>
              </a:rPr>
              <a:t>Correlation results</a:t>
            </a:r>
            <a:endParaRPr lang="en-US" sz="1600" dirty="0"/>
          </a:p>
        </p:txBody>
      </p:sp>
      <p:sp>
        <p:nvSpPr>
          <p:cNvPr id="16" name="Shape 13"/>
          <p:cNvSpPr/>
          <p:nvPr/>
        </p:nvSpPr>
        <p:spPr>
          <a:xfrm>
            <a:off x="8183880" y="3593592"/>
            <a:ext cx="1234440" cy="320040"/>
          </a:xfrm>
          <a:prstGeom prst="rect">
            <a:avLst/>
          </a:prstGeom>
          <a:solidFill>
            <a:srgbClr val="0B1F3A"/>
          </a:solidFill>
          <a:ln w="8890">
            <a:solidFill>
              <a:srgbClr val="D9DEE8"/>
            </a:solidFill>
            <a:prstDash val="solid"/>
          </a:ln>
        </p:spPr>
        <p:txBody>
          <a:bodyPr/>
          <a:lstStyle/>
          <a:p>
            <a:endParaRPr lang="en-IL"/>
          </a:p>
        </p:txBody>
      </p:sp>
      <p:sp>
        <p:nvSpPr>
          <p:cNvPr id="17" name="Text 14"/>
          <p:cNvSpPr/>
          <p:nvPr/>
        </p:nvSpPr>
        <p:spPr>
          <a:xfrm>
            <a:off x="8220456" y="3648456"/>
            <a:ext cx="1161288" cy="246888"/>
          </a:xfrm>
          <a:prstGeom prst="rect">
            <a:avLst/>
          </a:prstGeom>
          <a:noFill/>
          <a:ln/>
        </p:spPr>
        <p:txBody>
          <a:bodyPr wrap="square" lIns="0" tIns="0" rIns="0" bIns="0" rtlCol="0" anchor="ctr">
            <a:normAutofit/>
          </a:bodyPr>
          <a:lstStyle/>
          <a:p>
            <a:pPr marL="0" indent="0" algn="l">
              <a:buNone/>
            </a:pPr>
            <a:r>
              <a:rPr lang="en-US" sz="1400" b="1" dirty="0">
                <a:solidFill>
                  <a:srgbClr val="FFFFFF"/>
                </a:solidFill>
              </a:rPr>
              <a:t>Test</a:t>
            </a:r>
            <a:endParaRPr lang="en-US" sz="1400" dirty="0"/>
          </a:p>
        </p:txBody>
      </p:sp>
      <p:sp>
        <p:nvSpPr>
          <p:cNvPr id="18" name="Shape 15"/>
          <p:cNvSpPr/>
          <p:nvPr/>
        </p:nvSpPr>
        <p:spPr>
          <a:xfrm>
            <a:off x="9418320" y="3593592"/>
            <a:ext cx="960120" cy="320040"/>
          </a:xfrm>
          <a:prstGeom prst="rect">
            <a:avLst/>
          </a:prstGeom>
          <a:solidFill>
            <a:srgbClr val="0B1F3A"/>
          </a:solidFill>
          <a:ln w="8890">
            <a:solidFill>
              <a:srgbClr val="D9DEE8"/>
            </a:solidFill>
            <a:prstDash val="solid"/>
          </a:ln>
        </p:spPr>
        <p:txBody>
          <a:bodyPr/>
          <a:lstStyle/>
          <a:p>
            <a:endParaRPr lang="en-IL"/>
          </a:p>
        </p:txBody>
      </p:sp>
      <p:sp>
        <p:nvSpPr>
          <p:cNvPr id="19" name="Text 16"/>
          <p:cNvSpPr/>
          <p:nvPr/>
        </p:nvSpPr>
        <p:spPr>
          <a:xfrm>
            <a:off x="9454896" y="3648456"/>
            <a:ext cx="886968" cy="24688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r / ρ</a:t>
            </a:r>
            <a:endParaRPr lang="en-US" sz="1400" dirty="0"/>
          </a:p>
        </p:txBody>
      </p:sp>
      <p:sp>
        <p:nvSpPr>
          <p:cNvPr id="20" name="Shape 17"/>
          <p:cNvSpPr/>
          <p:nvPr/>
        </p:nvSpPr>
        <p:spPr>
          <a:xfrm>
            <a:off x="10378440" y="3593592"/>
            <a:ext cx="1051560" cy="320040"/>
          </a:xfrm>
          <a:prstGeom prst="rect">
            <a:avLst/>
          </a:prstGeom>
          <a:solidFill>
            <a:srgbClr val="0B1F3A"/>
          </a:solidFill>
          <a:ln w="8890">
            <a:solidFill>
              <a:srgbClr val="D9DEE8"/>
            </a:solidFill>
            <a:prstDash val="solid"/>
          </a:ln>
        </p:spPr>
        <p:txBody>
          <a:bodyPr/>
          <a:lstStyle/>
          <a:p>
            <a:endParaRPr lang="en-IL"/>
          </a:p>
        </p:txBody>
      </p:sp>
      <p:sp>
        <p:nvSpPr>
          <p:cNvPr id="21" name="Text 18"/>
          <p:cNvSpPr/>
          <p:nvPr/>
        </p:nvSpPr>
        <p:spPr>
          <a:xfrm>
            <a:off x="10415016" y="3648456"/>
            <a:ext cx="978408" cy="24688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p-value</a:t>
            </a:r>
            <a:endParaRPr lang="en-US" sz="1400" dirty="0"/>
          </a:p>
        </p:txBody>
      </p:sp>
      <p:sp>
        <p:nvSpPr>
          <p:cNvPr id="22" name="Shape 19"/>
          <p:cNvSpPr/>
          <p:nvPr/>
        </p:nvSpPr>
        <p:spPr>
          <a:xfrm>
            <a:off x="8183880" y="3913632"/>
            <a:ext cx="1234440" cy="320040"/>
          </a:xfrm>
          <a:prstGeom prst="rect">
            <a:avLst/>
          </a:prstGeom>
          <a:solidFill>
            <a:srgbClr val="FFFFFF"/>
          </a:solidFill>
          <a:ln w="8890">
            <a:solidFill>
              <a:srgbClr val="D9DEE8"/>
            </a:solidFill>
            <a:prstDash val="solid"/>
          </a:ln>
        </p:spPr>
        <p:txBody>
          <a:bodyPr/>
          <a:lstStyle/>
          <a:p>
            <a:endParaRPr lang="en-IL"/>
          </a:p>
        </p:txBody>
      </p:sp>
      <p:sp>
        <p:nvSpPr>
          <p:cNvPr id="23" name="Text 20"/>
          <p:cNvSpPr/>
          <p:nvPr/>
        </p:nvSpPr>
        <p:spPr>
          <a:xfrm>
            <a:off x="8220456" y="3968496"/>
            <a:ext cx="1161288" cy="246888"/>
          </a:xfrm>
          <a:prstGeom prst="rect">
            <a:avLst/>
          </a:prstGeom>
          <a:noFill/>
          <a:ln/>
        </p:spPr>
        <p:txBody>
          <a:bodyPr wrap="square" lIns="0" tIns="0" rIns="0" bIns="0" rtlCol="0" anchor="ctr">
            <a:normAutofit/>
          </a:bodyPr>
          <a:lstStyle/>
          <a:p>
            <a:pPr marL="0" indent="0" algn="l">
              <a:buNone/>
            </a:pPr>
            <a:r>
              <a:rPr lang="en-US" sz="1400" dirty="0">
                <a:solidFill>
                  <a:srgbClr val="111827"/>
                </a:solidFill>
              </a:rPr>
              <a:t>Pearson</a:t>
            </a:r>
            <a:endParaRPr lang="en-US" sz="1400" dirty="0"/>
          </a:p>
        </p:txBody>
      </p:sp>
      <p:sp>
        <p:nvSpPr>
          <p:cNvPr id="24" name="Shape 21"/>
          <p:cNvSpPr/>
          <p:nvPr/>
        </p:nvSpPr>
        <p:spPr>
          <a:xfrm>
            <a:off x="9418320" y="3913632"/>
            <a:ext cx="960120" cy="320040"/>
          </a:xfrm>
          <a:prstGeom prst="rect">
            <a:avLst/>
          </a:prstGeom>
          <a:solidFill>
            <a:srgbClr val="FFFFFF"/>
          </a:solidFill>
          <a:ln w="8890">
            <a:solidFill>
              <a:srgbClr val="D9DEE8"/>
            </a:solidFill>
            <a:prstDash val="solid"/>
          </a:ln>
        </p:spPr>
        <p:txBody>
          <a:bodyPr/>
          <a:lstStyle/>
          <a:p>
            <a:endParaRPr lang="en-IL"/>
          </a:p>
        </p:txBody>
      </p:sp>
      <p:sp>
        <p:nvSpPr>
          <p:cNvPr id="25" name="Text 22"/>
          <p:cNvSpPr/>
          <p:nvPr/>
        </p:nvSpPr>
        <p:spPr>
          <a:xfrm>
            <a:off x="9454896" y="3968496"/>
            <a:ext cx="88696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-0.207</a:t>
            </a:r>
            <a:endParaRPr lang="en-US" sz="1400" dirty="0"/>
          </a:p>
        </p:txBody>
      </p:sp>
      <p:sp>
        <p:nvSpPr>
          <p:cNvPr id="26" name="Shape 23"/>
          <p:cNvSpPr/>
          <p:nvPr/>
        </p:nvSpPr>
        <p:spPr>
          <a:xfrm>
            <a:off x="10378440" y="3913632"/>
            <a:ext cx="1051560" cy="320040"/>
          </a:xfrm>
          <a:prstGeom prst="rect">
            <a:avLst/>
          </a:prstGeom>
          <a:solidFill>
            <a:srgbClr val="FFFFFF"/>
          </a:solidFill>
          <a:ln w="8890">
            <a:solidFill>
              <a:srgbClr val="D9DEE8"/>
            </a:solidFill>
            <a:prstDash val="solid"/>
          </a:ln>
        </p:spPr>
        <p:txBody>
          <a:bodyPr/>
          <a:lstStyle/>
          <a:p>
            <a:endParaRPr lang="en-IL"/>
          </a:p>
        </p:txBody>
      </p:sp>
      <p:sp>
        <p:nvSpPr>
          <p:cNvPr id="27" name="Text 24"/>
          <p:cNvSpPr/>
          <p:nvPr/>
        </p:nvSpPr>
        <p:spPr>
          <a:xfrm>
            <a:off x="10415016" y="3968496"/>
            <a:ext cx="97840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0.3011</a:t>
            </a:r>
            <a:endParaRPr lang="en-US" sz="1400" dirty="0"/>
          </a:p>
        </p:txBody>
      </p:sp>
      <p:sp>
        <p:nvSpPr>
          <p:cNvPr id="28" name="Shape 25"/>
          <p:cNvSpPr/>
          <p:nvPr/>
        </p:nvSpPr>
        <p:spPr>
          <a:xfrm>
            <a:off x="8183880" y="4233672"/>
            <a:ext cx="1234440" cy="320040"/>
          </a:xfrm>
          <a:prstGeom prst="rect">
            <a:avLst/>
          </a:prstGeom>
          <a:solidFill>
            <a:srgbClr val="FFFFFF"/>
          </a:solidFill>
          <a:ln w="8890">
            <a:solidFill>
              <a:srgbClr val="D9DEE8"/>
            </a:solidFill>
            <a:prstDash val="solid"/>
          </a:ln>
        </p:spPr>
        <p:txBody>
          <a:bodyPr/>
          <a:lstStyle/>
          <a:p>
            <a:endParaRPr lang="en-IL"/>
          </a:p>
        </p:txBody>
      </p:sp>
      <p:sp>
        <p:nvSpPr>
          <p:cNvPr id="29" name="Text 26"/>
          <p:cNvSpPr/>
          <p:nvPr/>
        </p:nvSpPr>
        <p:spPr>
          <a:xfrm>
            <a:off x="8220456" y="4288536"/>
            <a:ext cx="1161288" cy="246888"/>
          </a:xfrm>
          <a:prstGeom prst="rect">
            <a:avLst/>
          </a:prstGeom>
          <a:noFill/>
          <a:ln/>
        </p:spPr>
        <p:txBody>
          <a:bodyPr wrap="square" lIns="0" tIns="0" rIns="0" bIns="0" rtlCol="0" anchor="ctr">
            <a:normAutofit/>
          </a:bodyPr>
          <a:lstStyle/>
          <a:p>
            <a:pPr marL="0" indent="0" algn="l">
              <a:buNone/>
            </a:pPr>
            <a:r>
              <a:rPr lang="en-US" sz="1400" dirty="0">
                <a:solidFill>
                  <a:srgbClr val="111827"/>
                </a:solidFill>
              </a:rPr>
              <a:t>Spearman</a:t>
            </a:r>
            <a:endParaRPr lang="en-US" sz="1400" dirty="0"/>
          </a:p>
        </p:txBody>
      </p:sp>
      <p:sp>
        <p:nvSpPr>
          <p:cNvPr id="30" name="Shape 27"/>
          <p:cNvSpPr/>
          <p:nvPr/>
        </p:nvSpPr>
        <p:spPr>
          <a:xfrm>
            <a:off x="9418320" y="4233672"/>
            <a:ext cx="960120" cy="320040"/>
          </a:xfrm>
          <a:prstGeom prst="rect">
            <a:avLst/>
          </a:prstGeom>
          <a:solidFill>
            <a:srgbClr val="FFFFFF"/>
          </a:solidFill>
          <a:ln w="8890">
            <a:solidFill>
              <a:srgbClr val="D9DEE8"/>
            </a:solidFill>
            <a:prstDash val="solid"/>
          </a:ln>
        </p:spPr>
        <p:txBody>
          <a:bodyPr/>
          <a:lstStyle/>
          <a:p>
            <a:endParaRPr lang="en-IL"/>
          </a:p>
        </p:txBody>
      </p:sp>
      <p:sp>
        <p:nvSpPr>
          <p:cNvPr id="31" name="Text 28"/>
          <p:cNvSpPr/>
          <p:nvPr/>
        </p:nvSpPr>
        <p:spPr>
          <a:xfrm>
            <a:off x="9454896" y="4288536"/>
            <a:ext cx="88696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0.091</a:t>
            </a:r>
            <a:endParaRPr lang="en-US" sz="1400" dirty="0"/>
          </a:p>
        </p:txBody>
      </p:sp>
      <p:sp>
        <p:nvSpPr>
          <p:cNvPr id="32" name="Shape 29"/>
          <p:cNvSpPr/>
          <p:nvPr/>
        </p:nvSpPr>
        <p:spPr>
          <a:xfrm>
            <a:off x="10378440" y="4233672"/>
            <a:ext cx="1051560" cy="320040"/>
          </a:xfrm>
          <a:prstGeom prst="rect">
            <a:avLst/>
          </a:prstGeom>
          <a:solidFill>
            <a:srgbClr val="FFFFFF"/>
          </a:solidFill>
          <a:ln w="8890">
            <a:solidFill>
              <a:srgbClr val="D9DEE8"/>
            </a:solidFill>
            <a:prstDash val="solid"/>
          </a:ln>
        </p:spPr>
        <p:txBody>
          <a:bodyPr/>
          <a:lstStyle/>
          <a:p>
            <a:endParaRPr lang="en-IL"/>
          </a:p>
        </p:txBody>
      </p:sp>
      <p:sp>
        <p:nvSpPr>
          <p:cNvPr id="33" name="Text 30"/>
          <p:cNvSpPr/>
          <p:nvPr/>
        </p:nvSpPr>
        <p:spPr>
          <a:xfrm>
            <a:off x="10415016" y="4288536"/>
            <a:ext cx="978408" cy="246888"/>
          </a:xfrm>
          <a:prstGeom prst="rect">
            <a:avLst/>
          </a:prstGeom>
          <a:noFill/>
          <a:ln/>
        </p:spPr>
        <p:txBody>
          <a:bodyPr wrap="square" lIns="0" tIns="0" rIns="0" bIns="0" rtlCol="0" anchor="ctr">
            <a:normAutofit/>
          </a:bodyPr>
          <a:lstStyle/>
          <a:p>
            <a:pPr marL="0" indent="0" algn="ctr">
              <a:buNone/>
            </a:pPr>
            <a:r>
              <a:rPr lang="en-US" sz="1400" dirty="0">
                <a:solidFill>
                  <a:srgbClr val="111827"/>
                </a:solidFill>
              </a:rPr>
              <a:t>0.6507</a:t>
            </a:r>
            <a:endParaRPr lang="en-US" sz="1400" dirty="0"/>
          </a:p>
        </p:txBody>
      </p:sp>
      <p:sp>
        <p:nvSpPr>
          <p:cNvPr id="34" name="Shape 31"/>
          <p:cNvSpPr/>
          <p:nvPr/>
        </p:nvSpPr>
        <p:spPr>
          <a:xfrm>
            <a:off x="8183880" y="5303520"/>
            <a:ext cx="3246120" cy="310896"/>
          </a:xfrm>
          <a:prstGeom prst="roundRect">
            <a:avLst>
              <a:gd name="adj" fmla="val 23529"/>
            </a:avLst>
          </a:prstGeom>
          <a:solidFill>
            <a:srgbClr val="D1495B"/>
          </a:solidFill>
          <a:ln w="12700">
            <a:solidFill>
              <a:srgbClr val="D1495B"/>
            </a:solidFill>
            <a:prstDash val="solid"/>
          </a:ln>
        </p:spPr>
        <p:txBody>
          <a:bodyPr/>
          <a:lstStyle/>
          <a:p>
            <a:endParaRPr lang="en-IL"/>
          </a:p>
        </p:txBody>
      </p:sp>
      <p:sp>
        <p:nvSpPr>
          <p:cNvPr id="35" name="Text 32"/>
          <p:cNvSpPr/>
          <p:nvPr/>
        </p:nvSpPr>
        <p:spPr>
          <a:xfrm>
            <a:off x="8257032" y="5362956"/>
            <a:ext cx="3099816"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rPr>
              <a:t>Hypothesis not statistically supported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Finding 4: shocks created temporary divergence</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r>
              <a:rPr lang="en-US" sz="1220" dirty="0">
                <a:solidFill>
                  <a:srgbClr val="6B7280"/>
                </a:solidFill>
              </a:rPr>
              <a:t>GDP-growth and inflation dispersion spiked, while unemployment dispersion declined.</a:t>
            </a: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9/10</a:t>
            </a:r>
            <a:endParaRPr lang="en-US" sz="850" dirty="0"/>
          </a:p>
        </p:txBody>
      </p:sp>
      <p:pic>
        <p:nvPicPr>
          <p:cNvPr id="7" name="Image 0" descr="/mnt/data/eu_recovery_assets/rq4_dispersion_std.png"/>
          <p:cNvPicPr>
            <a:picLocks noChangeAspect="1"/>
          </p:cNvPicPr>
          <p:nvPr/>
        </p:nvPicPr>
        <p:blipFill>
          <a:blip r:embed="rId3"/>
          <a:stretch>
            <a:fillRect/>
          </a:stretch>
        </p:blipFill>
        <p:spPr>
          <a:xfrm>
            <a:off x="0" y="1335023"/>
            <a:ext cx="8156194" cy="4646559"/>
          </a:xfrm>
          <a:prstGeom prst="rect">
            <a:avLst/>
          </a:prstGeom>
        </p:spPr>
      </p:pic>
      <p:sp>
        <p:nvSpPr>
          <p:cNvPr id="8" name="Text 5"/>
          <p:cNvSpPr/>
          <p:nvPr/>
        </p:nvSpPr>
        <p:spPr>
          <a:xfrm>
            <a:off x="8458200" y="1280160"/>
            <a:ext cx="3246120" cy="274320"/>
          </a:xfrm>
          <a:prstGeom prst="rect">
            <a:avLst/>
          </a:prstGeom>
          <a:noFill/>
          <a:ln/>
        </p:spPr>
        <p:txBody>
          <a:bodyPr wrap="square" lIns="0" tIns="0" rIns="0" bIns="0" rtlCol="0" anchor="ctr"/>
          <a:lstStyle/>
          <a:p>
            <a:pPr marL="0" indent="0">
              <a:buNone/>
            </a:pPr>
            <a:r>
              <a:rPr lang="en-US" sz="1600" b="1" dirty="0">
                <a:solidFill>
                  <a:srgbClr val="0B1F3A"/>
                </a:solidFill>
              </a:rPr>
              <a:t>Sample variance highlights</a:t>
            </a:r>
            <a:endParaRPr lang="en-US" sz="1600" dirty="0"/>
          </a:p>
        </p:txBody>
      </p:sp>
      <p:sp>
        <p:nvSpPr>
          <p:cNvPr id="9" name="Shape 6"/>
          <p:cNvSpPr/>
          <p:nvPr/>
        </p:nvSpPr>
        <p:spPr>
          <a:xfrm>
            <a:off x="8458200" y="1691640"/>
            <a:ext cx="1188720" cy="384048"/>
          </a:xfrm>
          <a:prstGeom prst="rect">
            <a:avLst/>
          </a:prstGeom>
          <a:solidFill>
            <a:srgbClr val="0B1F3A"/>
          </a:solidFill>
          <a:ln w="8890">
            <a:solidFill>
              <a:srgbClr val="D9DEE8"/>
            </a:solidFill>
            <a:prstDash val="solid"/>
          </a:ln>
        </p:spPr>
        <p:txBody>
          <a:bodyPr/>
          <a:lstStyle/>
          <a:p>
            <a:endParaRPr lang="en-IL" sz="1200"/>
          </a:p>
        </p:txBody>
      </p:sp>
      <p:sp>
        <p:nvSpPr>
          <p:cNvPr id="10" name="Text 7"/>
          <p:cNvSpPr/>
          <p:nvPr/>
        </p:nvSpPr>
        <p:spPr>
          <a:xfrm>
            <a:off x="8494776" y="1746504"/>
            <a:ext cx="1115568" cy="310896"/>
          </a:xfrm>
          <a:prstGeom prst="rect">
            <a:avLst/>
          </a:prstGeom>
          <a:noFill/>
          <a:ln/>
        </p:spPr>
        <p:txBody>
          <a:bodyPr wrap="square" lIns="0" tIns="0" rIns="0" bIns="0" rtlCol="0" anchor="ctr">
            <a:normAutofit/>
          </a:bodyPr>
          <a:lstStyle/>
          <a:p>
            <a:pPr marL="0" indent="0" algn="l">
              <a:buNone/>
            </a:pPr>
            <a:r>
              <a:rPr lang="en-US" sz="1200" b="1" dirty="0">
                <a:solidFill>
                  <a:srgbClr val="FFFFFF"/>
                </a:solidFill>
              </a:rPr>
              <a:t>Indicator</a:t>
            </a:r>
            <a:endParaRPr lang="en-US" sz="1200" dirty="0"/>
          </a:p>
        </p:txBody>
      </p:sp>
      <p:sp>
        <p:nvSpPr>
          <p:cNvPr id="11" name="Shape 8"/>
          <p:cNvSpPr/>
          <p:nvPr/>
        </p:nvSpPr>
        <p:spPr>
          <a:xfrm>
            <a:off x="9646920" y="1691640"/>
            <a:ext cx="640080" cy="384048"/>
          </a:xfrm>
          <a:prstGeom prst="rect">
            <a:avLst/>
          </a:prstGeom>
          <a:solidFill>
            <a:srgbClr val="0B1F3A"/>
          </a:solidFill>
          <a:ln w="8890">
            <a:solidFill>
              <a:srgbClr val="D9DEE8"/>
            </a:solidFill>
            <a:prstDash val="solid"/>
          </a:ln>
        </p:spPr>
        <p:txBody>
          <a:bodyPr/>
          <a:lstStyle/>
          <a:p>
            <a:endParaRPr lang="en-IL" sz="1200"/>
          </a:p>
        </p:txBody>
      </p:sp>
      <p:sp>
        <p:nvSpPr>
          <p:cNvPr id="12" name="Text 9"/>
          <p:cNvSpPr/>
          <p:nvPr/>
        </p:nvSpPr>
        <p:spPr>
          <a:xfrm>
            <a:off x="9683496" y="1746504"/>
            <a:ext cx="566928" cy="31089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2019</a:t>
            </a:r>
            <a:endParaRPr lang="en-US" sz="1200" dirty="0"/>
          </a:p>
        </p:txBody>
      </p:sp>
      <p:sp>
        <p:nvSpPr>
          <p:cNvPr id="13" name="Shape 10"/>
          <p:cNvSpPr/>
          <p:nvPr/>
        </p:nvSpPr>
        <p:spPr>
          <a:xfrm>
            <a:off x="10287000" y="1691640"/>
            <a:ext cx="868680" cy="384048"/>
          </a:xfrm>
          <a:prstGeom prst="rect">
            <a:avLst/>
          </a:prstGeom>
          <a:solidFill>
            <a:srgbClr val="0B1F3A"/>
          </a:solidFill>
          <a:ln w="8890">
            <a:solidFill>
              <a:srgbClr val="D9DEE8"/>
            </a:solidFill>
            <a:prstDash val="solid"/>
          </a:ln>
        </p:spPr>
        <p:txBody>
          <a:bodyPr/>
          <a:lstStyle/>
          <a:p>
            <a:endParaRPr lang="en-IL" sz="1200"/>
          </a:p>
        </p:txBody>
      </p:sp>
      <p:sp>
        <p:nvSpPr>
          <p:cNvPr id="14" name="Text 11"/>
          <p:cNvSpPr/>
          <p:nvPr/>
        </p:nvSpPr>
        <p:spPr>
          <a:xfrm>
            <a:off x="10323576" y="1746504"/>
            <a:ext cx="795528" cy="31089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Peak</a:t>
            </a:r>
            <a:endParaRPr lang="en-US" sz="1200" dirty="0"/>
          </a:p>
        </p:txBody>
      </p:sp>
      <p:sp>
        <p:nvSpPr>
          <p:cNvPr id="15" name="Shape 12"/>
          <p:cNvSpPr/>
          <p:nvPr/>
        </p:nvSpPr>
        <p:spPr>
          <a:xfrm>
            <a:off x="11155680" y="1691640"/>
            <a:ext cx="640080" cy="384048"/>
          </a:xfrm>
          <a:prstGeom prst="rect">
            <a:avLst/>
          </a:prstGeom>
          <a:solidFill>
            <a:srgbClr val="0B1F3A"/>
          </a:solidFill>
          <a:ln w="8890">
            <a:solidFill>
              <a:srgbClr val="D9DEE8"/>
            </a:solidFill>
            <a:prstDash val="solid"/>
          </a:ln>
        </p:spPr>
        <p:txBody>
          <a:bodyPr/>
          <a:lstStyle/>
          <a:p>
            <a:endParaRPr lang="en-IL" sz="1200"/>
          </a:p>
        </p:txBody>
      </p:sp>
      <p:sp>
        <p:nvSpPr>
          <p:cNvPr id="16" name="Text 13"/>
          <p:cNvSpPr/>
          <p:nvPr/>
        </p:nvSpPr>
        <p:spPr>
          <a:xfrm>
            <a:off x="11192256" y="1746504"/>
            <a:ext cx="566928" cy="31089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2024</a:t>
            </a:r>
            <a:endParaRPr lang="en-US" sz="1200" dirty="0"/>
          </a:p>
        </p:txBody>
      </p:sp>
      <p:sp>
        <p:nvSpPr>
          <p:cNvPr id="17" name="Shape 14"/>
          <p:cNvSpPr/>
          <p:nvPr/>
        </p:nvSpPr>
        <p:spPr>
          <a:xfrm>
            <a:off x="8458200" y="2075688"/>
            <a:ext cx="1188720" cy="384048"/>
          </a:xfrm>
          <a:prstGeom prst="rect">
            <a:avLst/>
          </a:prstGeom>
          <a:solidFill>
            <a:srgbClr val="FFFFFF"/>
          </a:solidFill>
          <a:ln w="8890">
            <a:solidFill>
              <a:srgbClr val="D9DEE8"/>
            </a:solidFill>
            <a:prstDash val="solid"/>
          </a:ln>
        </p:spPr>
        <p:txBody>
          <a:bodyPr/>
          <a:lstStyle/>
          <a:p>
            <a:endParaRPr lang="en-IL" sz="1200"/>
          </a:p>
        </p:txBody>
      </p:sp>
      <p:sp>
        <p:nvSpPr>
          <p:cNvPr id="18" name="Text 15"/>
          <p:cNvSpPr/>
          <p:nvPr/>
        </p:nvSpPr>
        <p:spPr>
          <a:xfrm>
            <a:off x="8494776" y="2130552"/>
            <a:ext cx="1115568" cy="310896"/>
          </a:xfrm>
          <a:prstGeom prst="rect">
            <a:avLst/>
          </a:prstGeom>
          <a:noFill/>
          <a:ln/>
        </p:spPr>
        <p:txBody>
          <a:bodyPr wrap="square" lIns="0" tIns="0" rIns="0" bIns="0" rtlCol="0" anchor="ctr">
            <a:normAutofit/>
          </a:bodyPr>
          <a:lstStyle/>
          <a:p>
            <a:pPr marL="0" indent="0" algn="l">
              <a:buNone/>
            </a:pPr>
            <a:r>
              <a:rPr lang="en-US" sz="1200" dirty="0">
                <a:solidFill>
                  <a:srgbClr val="111827"/>
                </a:solidFill>
              </a:rPr>
              <a:t>GDP growth</a:t>
            </a:r>
            <a:endParaRPr lang="en-US" sz="1200" dirty="0"/>
          </a:p>
        </p:txBody>
      </p:sp>
      <p:sp>
        <p:nvSpPr>
          <p:cNvPr id="19" name="Shape 16"/>
          <p:cNvSpPr/>
          <p:nvPr/>
        </p:nvSpPr>
        <p:spPr>
          <a:xfrm>
            <a:off x="9646920" y="2075688"/>
            <a:ext cx="640080" cy="384048"/>
          </a:xfrm>
          <a:prstGeom prst="rect">
            <a:avLst/>
          </a:prstGeom>
          <a:solidFill>
            <a:srgbClr val="FFFFFF"/>
          </a:solidFill>
          <a:ln w="8890">
            <a:solidFill>
              <a:srgbClr val="D9DEE8"/>
            </a:solidFill>
            <a:prstDash val="solid"/>
          </a:ln>
        </p:spPr>
        <p:txBody>
          <a:bodyPr/>
          <a:lstStyle/>
          <a:p>
            <a:endParaRPr lang="en-IL" sz="1200"/>
          </a:p>
        </p:txBody>
      </p:sp>
      <p:sp>
        <p:nvSpPr>
          <p:cNvPr id="20" name="Text 17"/>
          <p:cNvSpPr/>
          <p:nvPr/>
        </p:nvSpPr>
        <p:spPr>
          <a:xfrm>
            <a:off x="9683496" y="2130552"/>
            <a:ext cx="566928" cy="310896"/>
          </a:xfrm>
          <a:prstGeom prst="rect">
            <a:avLst/>
          </a:prstGeom>
          <a:noFill/>
          <a:ln/>
        </p:spPr>
        <p:txBody>
          <a:bodyPr wrap="square" lIns="0" tIns="0" rIns="0" bIns="0" rtlCol="0" anchor="ctr">
            <a:normAutofit/>
          </a:bodyPr>
          <a:lstStyle/>
          <a:p>
            <a:pPr marL="0" indent="0" algn="ctr">
              <a:buNone/>
            </a:pPr>
            <a:r>
              <a:rPr lang="en-US" sz="1200" dirty="0">
                <a:solidFill>
                  <a:srgbClr val="111827"/>
                </a:solidFill>
              </a:rPr>
              <a:t>1.99</a:t>
            </a:r>
            <a:endParaRPr lang="en-US" sz="1200" dirty="0"/>
          </a:p>
        </p:txBody>
      </p:sp>
      <p:sp>
        <p:nvSpPr>
          <p:cNvPr id="21" name="Shape 18"/>
          <p:cNvSpPr/>
          <p:nvPr/>
        </p:nvSpPr>
        <p:spPr>
          <a:xfrm>
            <a:off x="10287000" y="2075688"/>
            <a:ext cx="868680" cy="384048"/>
          </a:xfrm>
          <a:prstGeom prst="rect">
            <a:avLst/>
          </a:prstGeom>
          <a:solidFill>
            <a:srgbClr val="FFFFFF"/>
          </a:solidFill>
          <a:ln w="8890">
            <a:solidFill>
              <a:srgbClr val="D9DEE8"/>
            </a:solidFill>
            <a:prstDash val="solid"/>
          </a:ln>
        </p:spPr>
        <p:txBody>
          <a:bodyPr/>
          <a:lstStyle/>
          <a:p>
            <a:endParaRPr lang="en-IL" sz="1200"/>
          </a:p>
        </p:txBody>
      </p:sp>
      <p:sp>
        <p:nvSpPr>
          <p:cNvPr id="22" name="Text 19"/>
          <p:cNvSpPr/>
          <p:nvPr/>
        </p:nvSpPr>
        <p:spPr>
          <a:xfrm>
            <a:off x="10323576" y="2130552"/>
            <a:ext cx="795528" cy="310896"/>
          </a:xfrm>
          <a:prstGeom prst="rect">
            <a:avLst/>
          </a:prstGeom>
          <a:noFill/>
          <a:ln/>
        </p:spPr>
        <p:txBody>
          <a:bodyPr wrap="square" lIns="0" tIns="0" rIns="0" bIns="0" rtlCol="0" anchor="ctr">
            <a:noAutofit/>
          </a:bodyPr>
          <a:lstStyle/>
          <a:p>
            <a:pPr marL="0" indent="0" algn="ctr">
              <a:buNone/>
            </a:pPr>
            <a:r>
              <a:rPr lang="en-US" sz="1200" dirty="0">
                <a:solidFill>
                  <a:srgbClr val="111827"/>
                </a:solidFill>
              </a:rPr>
              <a:t>12.63</a:t>
            </a:r>
            <a:endParaRPr lang="en-US" sz="1200" dirty="0"/>
          </a:p>
          <a:p>
            <a:pPr marL="0" indent="0" algn="ctr">
              <a:buNone/>
            </a:pPr>
            <a:r>
              <a:rPr lang="en-US" sz="1200" dirty="0">
                <a:solidFill>
                  <a:srgbClr val="111827"/>
                </a:solidFill>
              </a:rPr>
              <a:t>(2020)</a:t>
            </a:r>
            <a:endParaRPr lang="en-US" sz="1200" dirty="0"/>
          </a:p>
        </p:txBody>
      </p:sp>
      <p:sp>
        <p:nvSpPr>
          <p:cNvPr id="23" name="Shape 20"/>
          <p:cNvSpPr/>
          <p:nvPr/>
        </p:nvSpPr>
        <p:spPr>
          <a:xfrm>
            <a:off x="11155680" y="2075688"/>
            <a:ext cx="640080" cy="384048"/>
          </a:xfrm>
          <a:prstGeom prst="rect">
            <a:avLst/>
          </a:prstGeom>
          <a:solidFill>
            <a:srgbClr val="FFFFFF"/>
          </a:solidFill>
          <a:ln w="8890">
            <a:solidFill>
              <a:srgbClr val="D9DEE8"/>
            </a:solidFill>
            <a:prstDash val="solid"/>
          </a:ln>
        </p:spPr>
        <p:txBody>
          <a:bodyPr/>
          <a:lstStyle/>
          <a:p>
            <a:endParaRPr lang="en-IL" sz="1200"/>
          </a:p>
        </p:txBody>
      </p:sp>
      <p:sp>
        <p:nvSpPr>
          <p:cNvPr id="24" name="Text 21"/>
          <p:cNvSpPr/>
          <p:nvPr/>
        </p:nvSpPr>
        <p:spPr>
          <a:xfrm>
            <a:off x="11192256" y="2130552"/>
            <a:ext cx="566928" cy="310896"/>
          </a:xfrm>
          <a:prstGeom prst="rect">
            <a:avLst/>
          </a:prstGeom>
          <a:noFill/>
          <a:ln/>
        </p:spPr>
        <p:txBody>
          <a:bodyPr wrap="square" lIns="0" tIns="0" rIns="0" bIns="0" rtlCol="0" anchor="ctr">
            <a:normAutofit/>
          </a:bodyPr>
          <a:lstStyle/>
          <a:p>
            <a:pPr marL="0" indent="0" algn="ctr">
              <a:buNone/>
            </a:pPr>
            <a:r>
              <a:rPr lang="en-US" sz="1200" dirty="0">
                <a:solidFill>
                  <a:srgbClr val="111827"/>
                </a:solidFill>
              </a:rPr>
              <a:t>2.61</a:t>
            </a:r>
            <a:endParaRPr lang="en-US" sz="1200" dirty="0"/>
          </a:p>
        </p:txBody>
      </p:sp>
      <p:sp>
        <p:nvSpPr>
          <p:cNvPr id="25" name="Shape 22"/>
          <p:cNvSpPr/>
          <p:nvPr/>
        </p:nvSpPr>
        <p:spPr>
          <a:xfrm>
            <a:off x="8458200" y="2459736"/>
            <a:ext cx="1188720" cy="384048"/>
          </a:xfrm>
          <a:prstGeom prst="rect">
            <a:avLst/>
          </a:prstGeom>
          <a:solidFill>
            <a:srgbClr val="FFFFFF"/>
          </a:solidFill>
          <a:ln w="8890">
            <a:solidFill>
              <a:srgbClr val="D9DEE8"/>
            </a:solidFill>
            <a:prstDash val="solid"/>
          </a:ln>
        </p:spPr>
        <p:txBody>
          <a:bodyPr/>
          <a:lstStyle/>
          <a:p>
            <a:endParaRPr lang="en-IL" sz="1200"/>
          </a:p>
        </p:txBody>
      </p:sp>
      <p:sp>
        <p:nvSpPr>
          <p:cNvPr id="26" name="Text 23"/>
          <p:cNvSpPr/>
          <p:nvPr/>
        </p:nvSpPr>
        <p:spPr>
          <a:xfrm>
            <a:off x="8494776" y="2514600"/>
            <a:ext cx="1115568" cy="310896"/>
          </a:xfrm>
          <a:prstGeom prst="rect">
            <a:avLst/>
          </a:prstGeom>
          <a:noFill/>
          <a:ln/>
        </p:spPr>
        <p:txBody>
          <a:bodyPr wrap="square" lIns="0" tIns="0" rIns="0" bIns="0" rtlCol="0" anchor="ctr">
            <a:normAutofit/>
          </a:bodyPr>
          <a:lstStyle/>
          <a:p>
            <a:pPr marL="0" indent="0" algn="l">
              <a:buNone/>
            </a:pPr>
            <a:r>
              <a:rPr lang="en-US" sz="1200" dirty="0">
                <a:solidFill>
                  <a:srgbClr val="111827"/>
                </a:solidFill>
              </a:rPr>
              <a:t>Inflation</a:t>
            </a:r>
            <a:endParaRPr lang="en-US" sz="1200" dirty="0"/>
          </a:p>
        </p:txBody>
      </p:sp>
      <p:sp>
        <p:nvSpPr>
          <p:cNvPr id="27" name="Shape 24"/>
          <p:cNvSpPr/>
          <p:nvPr/>
        </p:nvSpPr>
        <p:spPr>
          <a:xfrm>
            <a:off x="9646920" y="2459736"/>
            <a:ext cx="640080" cy="384048"/>
          </a:xfrm>
          <a:prstGeom prst="rect">
            <a:avLst/>
          </a:prstGeom>
          <a:solidFill>
            <a:srgbClr val="FFFFFF"/>
          </a:solidFill>
          <a:ln w="8890">
            <a:solidFill>
              <a:srgbClr val="D9DEE8"/>
            </a:solidFill>
            <a:prstDash val="solid"/>
          </a:ln>
        </p:spPr>
        <p:txBody>
          <a:bodyPr/>
          <a:lstStyle/>
          <a:p>
            <a:endParaRPr lang="en-IL" sz="1200"/>
          </a:p>
        </p:txBody>
      </p:sp>
      <p:sp>
        <p:nvSpPr>
          <p:cNvPr id="28" name="Text 25"/>
          <p:cNvSpPr/>
          <p:nvPr/>
        </p:nvSpPr>
        <p:spPr>
          <a:xfrm>
            <a:off x="9683496" y="2514600"/>
            <a:ext cx="566928" cy="310896"/>
          </a:xfrm>
          <a:prstGeom prst="rect">
            <a:avLst/>
          </a:prstGeom>
          <a:noFill/>
          <a:ln/>
        </p:spPr>
        <p:txBody>
          <a:bodyPr wrap="square" lIns="0" tIns="0" rIns="0" bIns="0" rtlCol="0" anchor="ctr">
            <a:normAutofit/>
          </a:bodyPr>
          <a:lstStyle/>
          <a:p>
            <a:pPr marL="0" indent="0" algn="ctr">
              <a:buNone/>
            </a:pPr>
            <a:r>
              <a:rPr lang="en-US" sz="1200" dirty="0">
                <a:solidFill>
                  <a:srgbClr val="111827"/>
                </a:solidFill>
              </a:rPr>
              <a:t>1.00</a:t>
            </a:r>
            <a:endParaRPr lang="en-US" sz="1200" dirty="0"/>
          </a:p>
        </p:txBody>
      </p:sp>
      <p:sp>
        <p:nvSpPr>
          <p:cNvPr id="29" name="Shape 26"/>
          <p:cNvSpPr/>
          <p:nvPr/>
        </p:nvSpPr>
        <p:spPr>
          <a:xfrm>
            <a:off x="10287000" y="2459736"/>
            <a:ext cx="868680" cy="384048"/>
          </a:xfrm>
          <a:prstGeom prst="rect">
            <a:avLst/>
          </a:prstGeom>
          <a:solidFill>
            <a:srgbClr val="FFFFFF"/>
          </a:solidFill>
          <a:ln w="8890">
            <a:solidFill>
              <a:srgbClr val="D9DEE8"/>
            </a:solidFill>
            <a:prstDash val="solid"/>
          </a:ln>
        </p:spPr>
        <p:txBody>
          <a:bodyPr/>
          <a:lstStyle/>
          <a:p>
            <a:endParaRPr lang="en-IL" sz="1200"/>
          </a:p>
        </p:txBody>
      </p:sp>
      <p:sp>
        <p:nvSpPr>
          <p:cNvPr id="30" name="Text 27"/>
          <p:cNvSpPr/>
          <p:nvPr/>
        </p:nvSpPr>
        <p:spPr>
          <a:xfrm>
            <a:off x="10323576" y="2514600"/>
            <a:ext cx="795528" cy="310896"/>
          </a:xfrm>
          <a:prstGeom prst="rect">
            <a:avLst/>
          </a:prstGeom>
          <a:noFill/>
          <a:ln/>
        </p:spPr>
        <p:txBody>
          <a:bodyPr wrap="square" lIns="0" tIns="0" rIns="0" bIns="0" rtlCol="0" anchor="ctr">
            <a:noAutofit/>
          </a:bodyPr>
          <a:lstStyle/>
          <a:p>
            <a:pPr marL="0" indent="0" algn="ctr">
              <a:buNone/>
            </a:pPr>
            <a:r>
              <a:rPr lang="en-US" sz="1200" dirty="0">
                <a:solidFill>
                  <a:srgbClr val="111827"/>
                </a:solidFill>
              </a:rPr>
              <a:t>16.93</a:t>
            </a:r>
            <a:endParaRPr lang="en-US" sz="1200" dirty="0"/>
          </a:p>
          <a:p>
            <a:pPr marL="0" indent="0" algn="ctr">
              <a:buNone/>
            </a:pPr>
            <a:r>
              <a:rPr lang="en-US" sz="1200" dirty="0">
                <a:solidFill>
                  <a:srgbClr val="111827"/>
                </a:solidFill>
              </a:rPr>
              <a:t>(2022)</a:t>
            </a:r>
            <a:endParaRPr lang="en-US" sz="1200" dirty="0"/>
          </a:p>
        </p:txBody>
      </p:sp>
      <p:sp>
        <p:nvSpPr>
          <p:cNvPr id="31" name="Shape 28"/>
          <p:cNvSpPr/>
          <p:nvPr/>
        </p:nvSpPr>
        <p:spPr>
          <a:xfrm>
            <a:off x="11155680" y="2459736"/>
            <a:ext cx="640080" cy="384048"/>
          </a:xfrm>
          <a:prstGeom prst="rect">
            <a:avLst/>
          </a:prstGeom>
          <a:solidFill>
            <a:srgbClr val="FFFFFF"/>
          </a:solidFill>
          <a:ln w="8890">
            <a:solidFill>
              <a:srgbClr val="D9DEE8"/>
            </a:solidFill>
            <a:prstDash val="solid"/>
          </a:ln>
        </p:spPr>
        <p:txBody>
          <a:bodyPr/>
          <a:lstStyle/>
          <a:p>
            <a:endParaRPr lang="en-IL" sz="1200"/>
          </a:p>
        </p:txBody>
      </p:sp>
      <p:sp>
        <p:nvSpPr>
          <p:cNvPr id="32" name="Text 29"/>
          <p:cNvSpPr/>
          <p:nvPr/>
        </p:nvSpPr>
        <p:spPr>
          <a:xfrm>
            <a:off x="11192256" y="2514600"/>
            <a:ext cx="566928" cy="310896"/>
          </a:xfrm>
          <a:prstGeom prst="rect">
            <a:avLst/>
          </a:prstGeom>
          <a:noFill/>
          <a:ln/>
        </p:spPr>
        <p:txBody>
          <a:bodyPr wrap="square" lIns="0" tIns="0" rIns="0" bIns="0" rtlCol="0" anchor="ctr">
            <a:normAutofit/>
          </a:bodyPr>
          <a:lstStyle/>
          <a:p>
            <a:pPr marL="0" indent="0" algn="ctr">
              <a:buNone/>
            </a:pPr>
            <a:r>
              <a:rPr lang="en-US" sz="1200" dirty="0">
                <a:solidFill>
                  <a:srgbClr val="111827"/>
                </a:solidFill>
              </a:rPr>
              <a:t>1.07</a:t>
            </a:r>
            <a:endParaRPr lang="en-US" sz="1200" dirty="0"/>
          </a:p>
        </p:txBody>
      </p:sp>
      <p:sp>
        <p:nvSpPr>
          <p:cNvPr id="33" name="Shape 30"/>
          <p:cNvSpPr/>
          <p:nvPr/>
        </p:nvSpPr>
        <p:spPr>
          <a:xfrm>
            <a:off x="8458200" y="2843784"/>
            <a:ext cx="1188720" cy="384048"/>
          </a:xfrm>
          <a:prstGeom prst="rect">
            <a:avLst/>
          </a:prstGeom>
          <a:solidFill>
            <a:srgbClr val="FFFFFF"/>
          </a:solidFill>
          <a:ln w="8890">
            <a:solidFill>
              <a:srgbClr val="D9DEE8"/>
            </a:solidFill>
            <a:prstDash val="solid"/>
          </a:ln>
        </p:spPr>
        <p:txBody>
          <a:bodyPr/>
          <a:lstStyle/>
          <a:p>
            <a:endParaRPr lang="en-IL" sz="1200"/>
          </a:p>
        </p:txBody>
      </p:sp>
      <p:sp>
        <p:nvSpPr>
          <p:cNvPr id="34" name="Text 31"/>
          <p:cNvSpPr/>
          <p:nvPr/>
        </p:nvSpPr>
        <p:spPr>
          <a:xfrm>
            <a:off x="8494776" y="2898648"/>
            <a:ext cx="1115568" cy="310896"/>
          </a:xfrm>
          <a:prstGeom prst="rect">
            <a:avLst/>
          </a:prstGeom>
          <a:noFill/>
          <a:ln/>
        </p:spPr>
        <p:txBody>
          <a:bodyPr wrap="square" lIns="0" tIns="0" rIns="0" bIns="0" rtlCol="0" anchor="ctr">
            <a:normAutofit/>
          </a:bodyPr>
          <a:lstStyle/>
          <a:p>
            <a:pPr marL="0" indent="0" algn="l">
              <a:buNone/>
            </a:pPr>
            <a:r>
              <a:rPr lang="en-US" sz="1200" dirty="0">
                <a:solidFill>
                  <a:srgbClr val="111827"/>
                </a:solidFill>
              </a:rPr>
              <a:t>Unemployment</a:t>
            </a:r>
            <a:endParaRPr lang="en-US" sz="1200" dirty="0"/>
          </a:p>
        </p:txBody>
      </p:sp>
      <p:sp>
        <p:nvSpPr>
          <p:cNvPr id="35" name="Shape 32"/>
          <p:cNvSpPr/>
          <p:nvPr/>
        </p:nvSpPr>
        <p:spPr>
          <a:xfrm>
            <a:off x="9646920" y="2843784"/>
            <a:ext cx="640080" cy="384048"/>
          </a:xfrm>
          <a:prstGeom prst="rect">
            <a:avLst/>
          </a:prstGeom>
          <a:solidFill>
            <a:srgbClr val="FFFFFF"/>
          </a:solidFill>
          <a:ln w="8890">
            <a:solidFill>
              <a:srgbClr val="D9DEE8"/>
            </a:solidFill>
            <a:prstDash val="solid"/>
          </a:ln>
        </p:spPr>
        <p:txBody>
          <a:bodyPr/>
          <a:lstStyle/>
          <a:p>
            <a:endParaRPr lang="en-IL" sz="1200"/>
          </a:p>
        </p:txBody>
      </p:sp>
      <p:sp>
        <p:nvSpPr>
          <p:cNvPr id="36" name="Text 33"/>
          <p:cNvSpPr/>
          <p:nvPr/>
        </p:nvSpPr>
        <p:spPr>
          <a:xfrm>
            <a:off x="9683496" y="2898648"/>
            <a:ext cx="566928" cy="310896"/>
          </a:xfrm>
          <a:prstGeom prst="rect">
            <a:avLst/>
          </a:prstGeom>
          <a:noFill/>
          <a:ln/>
        </p:spPr>
        <p:txBody>
          <a:bodyPr wrap="square" lIns="0" tIns="0" rIns="0" bIns="0" rtlCol="0" anchor="ctr">
            <a:normAutofit/>
          </a:bodyPr>
          <a:lstStyle/>
          <a:p>
            <a:pPr marL="0" indent="0" algn="ctr">
              <a:buNone/>
            </a:pPr>
            <a:r>
              <a:rPr lang="en-US" sz="1200" dirty="0">
                <a:solidFill>
                  <a:srgbClr val="111827"/>
                </a:solidFill>
              </a:rPr>
              <a:t>10.67</a:t>
            </a:r>
            <a:endParaRPr lang="en-US" sz="1200" dirty="0"/>
          </a:p>
        </p:txBody>
      </p:sp>
      <p:sp>
        <p:nvSpPr>
          <p:cNvPr id="37" name="Shape 34"/>
          <p:cNvSpPr/>
          <p:nvPr/>
        </p:nvSpPr>
        <p:spPr>
          <a:xfrm>
            <a:off x="10287000" y="2843784"/>
            <a:ext cx="868680" cy="384048"/>
          </a:xfrm>
          <a:prstGeom prst="rect">
            <a:avLst/>
          </a:prstGeom>
          <a:solidFill>
            <a:srgbClr val="FFFFFF"/>
          </a:solidFill>
          <a:ln w="8890">
            <a:solidFill>
              <a:srgbClr val="D9DEE8"/>
            </a:solidFill>
            <a:prstDash val="solid"/>
          </a:ln>
        </p:spPr>
        <p:txBody>
          <a:bodyPr/>
          <a:lstStyle/>
          <a:p>
            <a:endParaRPr lang="en-IL" sz="1200"/>
          </a:p>
        </p:txBody>
      </p:sp>
      <p:sp>
        <p:nvSpPr>
          <p:cNvPr id="38" name="Text 35"/>
          <p:cNvSpPr/>
          <p:nvPr/>
        </p:nvSpPr>
        <p:spPr>
          <a:xfrm>
            <a:off x="10323576" y="2898648"/>
            <a:ext cx="795528" cy="310896"/>
          </a:xfrm>
          <a:prstGeom prst="rect">
            <a:avLst/>
          </a:prstGeom>
          <a:noFill/>
          <a:ln/>
        </p:spPr>
        <p:txBody>
          <a:bodyPr wrap="square" lIns="0" tIns="0" rIns="0" bIns="0" rtlCol="0" anchor="ctr">
            <a:noAutofit/>
          </a:bodyPr>
          <a:lstStyle/>
          <a:p>
            <a:pPr marL="0" indent="0" algn="ctr">
              <a:buNone/>
            </a:pPr>
            <a:r>
              <a:rPr lang="en-US" sz="1200" dirty="0">
                <a:solidFill>
                  <a:srgbClr val="111827"/>
                </a:solidFill>
              </a:rPr>
              <a:t>10.67</a:t>
            </a:r>
            <a:endParaRPr lang="en-US" sz="1200" dirty="0"/>
          </a:p>
          <a:p>
            <a:pPr marL="0" indent="0" algn="ctr">
              <a:buNone/>
            </a:pPr>
            <a:r>
              <a:rPr lang="en-US" sz="1200" dirty="0">
                <a:solidFill>
                  <a:srgbClr val="111827"/>
                </a:solidFill>
              </a:rPr>
              <a:t>(2019)</a:t>
            </a:r>
            <a:endParaRPr lang="en-US" sz="1200" dirty="0"/>
          </a:p>
        </p:txBody>
      </p:sp>
      <p:sp>
        <p:nvSpPr>
          <p:cNvPr id="39" name="Shape 36"/>
          <p:cNvSpPr/>
          <p:nvPr/>
        </p:nvSpPr>
        <p:spPr>
          <a:xfrm>
            <a:off x="11155680" y="2843784"/>
            <a:ext cx="640080" cy="384048"/>
          </a:xfrm>
          <a:prstGeom prst="rect">
            <a:avLst/>
          </a:prstGeom>
          <a:solidFill>
            <a:srgbClr val="FFFFFF"/>
          </a:solidFill>
          <a:ln w="8890">
            <a:solidFill>
              <a:srgbClr val="D9DEE8"/>
            </a:solidFill>
            <a:prstDash val="solid"/>
          </a:ln>
        </p:spPr>
        <p:txBody>
          <a:bodyPr/>
          <a:lstStyle/>
          <a:p>
            <a:endParaRPr lang="en-IL" sz="1200"/>
          </a:p>
        </p:txBody>
      </p:sp>
      <p:sp>
        <p:nvSpPr>
          <p:cNvPr id="40" name="Text 37"/>
          <p:cNvSpPr/>
          <p:nvPr/>
        </p:nvSpPr>
        <p:spPr>
          <a:xfrm>
            <a:off x="11192256" y="2898648"/>
            <a:ext cx="566928" cy="310896"/>
          </a:xfrm>
          <a:prstGeom prst="rect">
            <a:avLst/>
          </a:prstGeom>
          <a:noFill/>
          <a:ln/>
        </p:spPr>
        <p:txBody>
          <a:bodyPr wrap="square" lIns="0" tIns="0" rIns="0" bIns="0" rtlCol="0" anchor="ctr">
            <a:normAutofit/>
          </a:bodyPr>
          <a:lstStyle/>
          <a:p>
            <a:pPr marL="0" indent="0" algn="ctr">
              <a:buNone/>
            </a:pPr>
            <a:r>
              <a:rPr lang="en-US" sz="1200" dirty="0">
                <a:solidFill>
                  <a:srgbClr val="111827"/>
                </a:solidFill>
              </a:rPr>
              <a:t>4.70</a:t>
            </a:r>
            <a:endParaRPr lang="en-US" sz="1200" dirty="0"/>
          </a:p>
        </p:txBody>
      </p:sp>
      <p:sp>
        <p:nvSpPr>
          <p:cNvPr id="41" name="Text 38"/>
          <p:cNvSpPr/>
          <p:nvPr/>
        </p:nvSpPr>
        <p:spPr>
          <a:xfrm>
            <a:off x="8458200" y="3794760"/>
            <a:ext cx="3604846" cy="1152144"/>
          </a:xfrm>
          <a:prstGeom prst="rect">
            <a:avLst/>
          </a:prstGeom>
          <a:noFill/>
          <a:ln/>
        </p:spPr>
        <p:txBody>
          <a:bodyPr wrap="square" lIns="254" tIns="254" rIns="254" bIns="254" rtlCol="0" anchor="ctr">
            <a:normAutofit lnSpcReduction="10000"/>
          </a:bodyPr>
          <a:lstStyle/>
          <a:p>
            <a:pPr marL="285750" indent="-285750">
              <a:buFont typeface="Arial" panose="020B0604020202020204" pitchFamily="34" charset="0"/>
              <a:buChar char="•"/>
            </a:pPr>
            <a:r>
              <a:rPr lang="en-US" sz="1600" dirty="0">
                <a:solidFill>
                  <a:srgbClr val="111827"/>
                </a:solidFill>
              </a:rPr>
              <a:t>GDP growth diverged during COVID.</a:t>
            </a:r>
            <a:endParaRPr lang="en-US" sz="1600" dirty="0"/>
          </a:p>
          <a:p>
            <a:pPr marL="285750" indent="-285750">
              <a:buFont typeface="Arial" panose="020B0604020202020204" pitchFamily="34" charset="0"/>
              <a:buChar char="•"/>
            </a:pPr>
            <a:r>
              <a:rPr lang="en-US" sz="1600" dirty="0">
                <a:solidFill>
                  <a:srgbClr val="111827"/>
                </a:solidFill>
              </a:rPr>
              <a:t>Inflation diverged during the 2022 shock.</a:t>
            </a:r>
            <a:endParaRPr lang="en-US" sz="1600" dirty="0"/>
          </a:p>
          <a:p>
            <a:pPr marL="285750" indent="-285750">
              <a:buFont typeface="Arial" panose="020B0604020202020204" pitchFamily="34" charset="0"/>
              <a:buChar char="•"/>
            </a:pPr>
            <a:r>
              <a:rPr lang="en-US" sz="1600" dirty="0">
                <a:solidFill>
                  <a:srgbClr val="111827"/>
                </a:solidFill>
              </a:rPr>
              <a:t>Unemployment became more similar across countries.</a:t>
            </a:r>
            <a:endParaRPr lang="en-US" sz="1600" dirty="0"/>
          </a:p>
        </p:txBody>
      </p:sp>
      <p:sp>
        <p:nvSpPr>
          <p:cNvPr id="42" name="Shape 39"/>
          <p:cNvSpPr/>
          <p:nvPr/>
        </p:nvSpPr>
        <p:spPr>
          <a:xfrm>
            <a:off x="8458200" y="5349240"/>
            <a:ext cx="2880360" cy="310896"/>
          </a:xfrm>
          <a:prstGeom prst="roundRect">
            <a:avLst>
              <a:gd name="adj" fmla="val 23529"/>
            </a:avLst>
          </a:prstGeom>
          <a:solidFill>
            <a:srgbClr val="1B998B"/>
          </a:solidFill>
          <a:ln w="12700">
            <a:solidFill>
              <a:srgbClr val="1B998B"/>
            </a:solidFill>
            <a:prstDash val="solid"/>
          </a:ln>
        </p:spPr>
        <p:txBody>
          <a:bodyPr/>
          <a:lstStyle/>
          <a:p>
            <a:endParaRPr lang="en-IL"/>
          </a:p>
        </p:txBody>
      </p:sp>
      <p:sp>
        <p:nvSpPr>
          <p:cNvPr id="43" name="Text 40"/>
          <p:cNvSpPr/>
          <p:nvPr/>
        </p:nvSpPr>
        <p:spPr>
          <a:xfrm>
            <a:off x="8531352" y="5408676"/>
            <a:ext cx="2734056"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rPr>
              <a:t>Descriptive hypothesis supported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6A6"/>
          </a:solidFill>
          <a:ln w="12700">
            <a:solidFill>
              <a:srgbClr val="00A6A6"/>
            </a:solidFill>
            <a:prstDash val="solid"/>
          </a:ln>
        </p:spPr>
        <p:txBody>
          <a:bodyPr/>
          <a:lstStyle/>
          <a:p>
            <a:endParaRPr lang="en-IL"/>
          </a:p>
        </p:txBody>
      </p:sp>
      <p:sp>
        <p:nvSpPr>
          <p:cNvPr id="3" name="Text 1"/>
          <p:cNvSpPr/>
          <p:nvPr/>
        </p:nvSpPr>
        <p:spPr>
          <a:xfrm>
            <a:off x="502920" y="301752"/>
            <a:ext cx="11064240" cy="502920"/>
          </a:xfrm>
          <a:prstGeom prst="rect">
            <a:avLst/>
          </a:prstGeom>
          <a:noFill/>
          <a:ln/>
        </p:spPr>
        <p:txBody>
          <a:bodyPr wrap="square" lIns="0" tIns="0" rIns="0" bIns="0" rtlCol="0" anchor="ctr"/>
          <a:lstStyle/>
          <a:p>
            <a:pPr marL="0" indent="0">
              <a:buNone/>
            </a:pPr>
            <a:r>
              <a:rPr lang="en-US" sz="2700" b="1" dirty="0">
                <a:solidFill>
                  <a:srgbClr val="0B1F3A"/>
                </a:solidFill>
              </a:rPr>
              <a:t>Conclusion: recovery happened, but simple inflation stories did not hold</a:t>
            </a:r>
            <a:endParaRPr lang="en-US" sz="2700" dirty="0"/>
          </a:p>
        </p:txBody>
      </p:sp>
      <p:sp>
        <p:nvSpPr>
          <p:cNvPr id="4" name="Text 2"/>
          <p:cNvSpPr/>
          <p:nvPr/>
        </p:nvSpPr>
        <p:spPr>
          <a:xfrm>
            <a:off x="521208" y="841248"/>
            <a:ext cx="10789920" cy="301752"/>
          </a:xfrm>
          <a:prstGeom prst="rect">
            <a:avLst/>
          </a:prstGeom>
          <a:noFill/>
          <a:ln/>
        </p:spPr>
        <p:txBody>
          <a:bodyPr wrap="square" lIns="0" tIns="0" rIns="0" bIns="0" rtlCol="0" anchor="ctr"/>
          <a:lstStyle/>
          <a:p>
            <a:pPr marL="0" indent="0">
              <a:buNone/>
            </a:pPr>
            <a:endParaRPr lang="en-US" sz="1220" dirty="0"/>
          </a:p>
        </p:txBody>
      </p:sp>
      <p:sp>
        <p:nvSpPr>
          <p:cNvPr id="5" name="Text 3"/>
          <p:cNvSpPr/>
          <p:nvPr/>
        </p:nvSpPr>
        <p:spPr>
          <a:xfrm>
            <a:off x="502920" y="6547104"/>
            <a:ext cx="5029200" cy="182880"/>
          </a:xfrm>
          <a:prstGeom prst="rect">
            <a:avLst/>
          </a:prstGeom>
          <a:noFill/>
          <a:ln/>
        </p:spPr>
        <p:txBody>
          <a:bodyPr wrap="square" lIns="0" tIns="0" rIns="0" bIns="0" rtlCol="0" anchor="ctr"/>
          <a:lstStyle/>
          <a:p>
            <a:pPr marL="0" indent="0">
              <a:buNone/>
            </a:pPr>
            <a:r>
              <a:rPr lang="en-US" sz="850" dirty="0">
                <a:solidFill>
                  <a:srgbClr val="6B7280"/>
                </a:solidFill>
              </a:rPr>
              <a:t>World Bank WDI · EU-27 · 2019–2024</a:t>
            </a:r>
            <a:endParaRPr lang="en-US" sz="850" dirty="0"/>
          </a:p>
        </p:txBody>
      </p:sp>
      <p:sp>
        <p:nvSpPr>
          <p:cNvPr id="6" name="Text 4"/>
          <p:cNvSpPr/>
          <p:nvPr/>
        </p:nvSpPr>
        <p:spPr>
          <a:xfrm>
            <a:off x="11201400" y="6547104"/>
            <a:ext cx="502920" cy="182880"/>
          </a:xfrm>
          <a:prstGeom prst="rect">
            <a:avLst/>
          </a:prstGeom>
          <a:noFill/>
          <a:ln/>
        </p:spPr>
        <p:txBody>
          <a:bodyPr wrap="square" lIns="0" tIns="0" rIns="0" bIns="0" rtlCol="0" anchor="ctr"/>
          <a:lstStyle/>
          <a:p>
            <a:pPr marL="0" indent="0" algn="r">
              <a:buNone/>
            </a:pPr>
            <a:r>
              <a:rPr lang="en-US" sz="850" dirty="0">
                <a:solidFill>
                  <a:srgbClr val="6B7280"/>
                </a:solidFill>
              </a:rPr>
              <a:t>10/10</a:t>
            </a:r>
            <a:endParaRPr lang="en-US" sz="850" dirty="0"/>
          </a:p>
        </p:txBody>
      </p:sp>
      <p:sp>
        <p:nvSpPr>
          <p:cNvPr id="7" name="Text 5"/>
          <p:cNvSpPr/>
          <p:nvPr/>
        </p:nvSpPr>
        <p:spPr>
          <a:xfrm>
            <a:off x="685800" y="1234440"/>
            <a:ext cx="4754880" cy="274320"/>
          </a:xfrm>
          <a:prstGeom prst="rect">
            <a:avLst/>
          </a:prstGeom>
          <a:noFill/>
          <a:ln/>
        </p:spPr>
        <p:txBody>
          <a:bodyPr wrap="square" lIns="0" tIns="0" rIns="0" bIns="0" rtlCol="0" anchor="ctr"/>
          <a:lstStyle/>
          <a:p>
            <a:pPr marL="0" indent="0">
              <a:buNone/>
            </a:pPr>
            <a:r>
              <a:rPr lang="en-US" b="1" dirty="0">
                <a:solidFill>
                  <a:srgbClr val="0B1F3A"/>
                </a:solidFill>
              </a:rPr>
              <a:t>Answers to the four questions</a:t>
            </a:r>
            <a:endParaRPr lang="en-US" dirty="0"/>
          </a:p>
        </p:txBody>
      </p:sp>
      <p:sp>
        <p:nvSpPr>
          <p:cNvPr id="8" name="Text 6"/>
          <p:cNvSpPr/>
          <p:nvPr/>
        </p:nvSpPr>
        <p:spPr>
          <a:xfrm>
            <a:off x="777240" y="1691640"/>
            <a:ext cx="502920" cy="228600"/>
          </a:xfrm>
          <a:prstGeom prst="rect">
            <a:avLst/>
          </a:prstGeom>
          <a:noFill/>
          <a:ln/>
        </p:spPr>
        <p:txBody>
          <a:bodyPr wrap="square" lIns="0" tIns="0" rIns="0" bIns="0" rtlCol="0" anchor="ctr"/>
          <a:lstStyle/>
          <a:p>
            <a:pPr marL="0" indent="0">
              <a:buNone/>
            </a:pPr>
            <a:r>
              <a:rPr lang="en-US" sz="1400" b="1" dirty="0">
                <a:solidFill>
                  <a:srgbClr val="00A6A6"/>
                </a:solidFill>
              </a:rPr>
              <a:t>RQ1</a:t>
            </a:r>
            <a:endParaRPr lang="en-US" sz="1400" dirty="0"/>
          </a:p>
        </p:txBody>
      </p:sp>
      <p:sp>
        <p:nvSpPr>
          <p:cNvPr id="9" name="Text 7"/>
          <p:cNvSpPr/>
          <p:nvPr/>
        </p:nvSpPr>
        <p:spPr>
          <a:xfrm>
            <a:off x="1417320" y="1691640"/>
            <a:ext cx="2148840" cy="228600"/>
          </a:xfrm>
          <a:prstGeom prst="rect">
            <a:avLst/>
          </a:prstGeom>
          <a:noFill/>
          <a:ln/>
        </p:spPr>
        <p:txBody>
          <a:bodyPr wrap="square" lIns="0" tIns="0" rIns="0" bIns="0" rtlCol="0" anchor="ctr">
            <a:normAutofit/>
          </a:bodyPr>
          <a:lstStyle/>
          <a:p>
            <a:pPr marL="0" indent="0">
              <a:buNone/>
            </a:pPr>
            <a:r>
              <a:rPr lang="en-US" sz="1400" b="1" dirty="0">
                <a:solidFill>
                  <a:srgbClr val="1B998B"/>
                </a:solidFill>
              </a:rPr>
              <a:t>Supported</a:t>
            </a:r>
            <a:endParaRPr lang="en-US" sz="1400" dirty="0"/>
          </a:p>
        </p:txBody>
      </p:sp>
      <p:sp>
        <p:nvSpPr>
          <p:cNvPr id="10" name="Text 8"/>
          <p:cNvSpPr/>
          <p:nvPr/>
        </p:nvSpPr>
        <p:spPr>
          <a:xfrm>
            <a:off x="3794759" y="1700784"/>
            <a:ext cx="4663440" cy="228600"/>
          </a:xfrm>
          <a:prstGeom prst="rect">
            <a:avLst/>
          </a:prstGeom>
          <a:noFill/>
          <a:ln/>
        </p:spPr>
        <p:txBody>
          <a:bodyPr wrap="square" lIns="0" tIns="0" rIns="0" bIns="0" rtlCol="0" anchor="ctr">
            <a:normAutofit/>
          </a:bodyPr>
          <a:lstStyle/>
          <a:p>
            <a:pPr marL="0" indent="0">
              <a:buNone/>
            </a:pPr>
            <a:r>
              <a:rPr lang="en-US" sz="1400" dirty="0">
                <a:solidFill>
                  <a:srgbClr val="111827"/>
                </a:solidFill>
              </a:rPr>
              <a:t>Most countries recovered by 2024, but paths varied.</a:t>
            </a:r>
            <a:endParaRPr lang="en-US" sz="1400" dirty="0"/>
          </a:p>
        </p:txBody>
      </p:sp>
      <p:sp>
        <p:nvSpPr>
          <p:cNvPr id="11" name="Text 9"/>
          <p:cNvSpPr/>
          <p:nvPr/>
        </p:nvSpPr>
        <p:spPr>
          <a:xfrm>
            <a:off x="777240" y="2423160"/>
            <a:ext cx="502920" cy="228600"/>
          </a:xfrm>
          <a:prstGeom prst="rect">
            <a:avLst/>
          </a:prstGeom>
          <a:noFill/>
          <a:ln/>
        </p:spPr>
        <p:txBody>
          <a:bodyPr wrap="square" lIns="0" tIns="0" rIns="0" bIns="0" rtlCol="0" anchor="ctr"/>
          <a:lstStyle/>
          <a:p>
            <a:pPr marL="0" indent="0">
              <a:buNone/>
            </a:pPr>
            <a:r>
              <a:rPr lang="en-US" sz="1400" b="1" dirty="0">
                <a:solidFill>
                  <a:srgbClr val="00A6A6"/>
                </a:solidFill>
              </a:rPr>
              <a:t>RQ2</a:t>
            </a:r>
            <a:endParaRPr lang="en-US" sz="1400" dirty="0"/>
          </a:p>
        </p:txBody>
      </p:sp>
      <p:sp>
        <p:nvSpPr>
          <p:cNvPr id="12" name="Text 10"/>
          <p:cNvSpPr/>
          <p:nvPr/>
        </p:nvSpPr>
        <p:spPr>
          <a:xfrm>
            <a:off x="1417319" y="2423160"/>
            <a:ext cx="2380957" cy="228600"/>
          </a:xfrm>
          <a:prstGeom prst="rect">
            <a:avLst/>
          </a:prstGeom>
          <a:noFill/>
          <a:ln/>
        </p:spPr>
        <p:txBody>
          <a:bodyPr wrap="square" lIns="0" tIns="0" rIns="0" bIns="0" rtlCol="0" anchor="ctr">
            <a:noAutofit/>
          </a:bodyPr>
          <a:lstStyle/>
          <a:p>
            <a:pPr marL="0" indent="0">
              <a:buNone/>
            </a:pPr>
            <a:r>
              <a:rPr lang="en-US" sz="1400" b="1" dirty="0">
                <a:solidFill>
                  <a:srgbClr val="D1495B"/>
                </a:solidFill>
              </a:rPr>
              <a:t>Not statistically supported</a:t>
            </a:r>
            <a:endParaRPr lang="en-US" sz="1400" dirty="0"/>
          </a:p>
        </p:txBody>
      </p:sp>
      <p:sp>
        <p:nvSpPr>
          <p:cNvPr id="13" name="Text 11"/>
          <p:cNvSpPr/>
          <p:nvPr/>
        </p:nvSpPr>
        <p:spPr>
          <a:xfrm>
            <a:off x="3794759" y="2432304"/>
            <a:ext cx="4663440" cy="228600"/>
          </a:xfrm>
          <a:prstGeom prst="rect">
            <a:avLst/>
          </a:prstGeom>
          <a:noFill/>
          <a:ln/>
        </p:spPr>
        <p:txBody>
          <a:bodyPr wrap="square" lIns="0" tIns="0" rIns="0" bIns="0" rtlCol="0" anchor="ctr">
            <a:normAutofit/>
          </a:bodyPr>
          <a:lstStyle/>
          <a:p>
            <a:pPr marL="0" indent="0">
              <a:buNone/>
            </a:pPr>
            <a:r>
              <a:rPr lang="en-US" sz="1400" dirty="0">
                <a:solidFill>
                  <a:srgbClr val="111827"/>
                </a:solidFill>
              </a:rPr>
              <a:t>Inflation–growth relationship was weak and non-significant.</a:t>
            </a:r>
            <a:endParaRPr lang="en-US" sz="1400" dirty="0"/>
          </a:p>
        </p:txBody>
      </p:sp>
      <p:sp>
        <p:nvSpPr>
          <p:cNvPr id="14" name="Text 12"/>
          <p:cNvSpPr/>
          <p:nvPr/>
        </p:nvSpPr>
        <p:spPr>
          <a:xfrm>
            <a:off x="777240" y="3154680"/>
            <a:ext cx="502920" cy="228600"/>
          </a:xfrm>
          <a:prstGeom prst="rect">
            <a:avLst/>
          </a:prstGeom>
          <a:noFill/>
          <a:ln/>
        </p:spPr>
        <p:txBody>
          <a:bodyPr wrap="square" lIns="0" tIns="0" rIns="0" bIns="0" rtlCol="0" anchor="ctr"/>
          <a:lstStyle/>
          <a:p>
            <a:pPr marL="0" indent="0">
              <a:buNone/>
            </a:pPr>
            <a:r>
              <a:rPr lang="en-US" sz="1400" b="1" dirty="0">
                <a:solidFill>
                  <a:srgbClr val="00A6A6"/>
                </a:solidFill>
              </a:rPr>
              <a:t>RQ3</a:t>
            </a:r>
            <a:endParaRPr lang="en-US" sz="1400" dirty="0"/>
          </a:p>
        </p:txBody>
      </p:sp>
      <p:sp>
        <p:nvSpPr>
          <p:cNvPr id="15" name="Text 13"/>
          <p:cNvSpPr/>
          <p:nvPr/>
        </p:nvSpPr>
        <p:spPr>
          <a:xfrm>
            <a:off x="1417320" y="3154680"/>
            <a:ext cx="2240280" cy="228600"/>
          </a:xfrm>
          <a:prstGeom prst="rect">
            <a:avLst/>
          </a:prstGeom>
          <a:noFill/>
          <a:ln/>
        </p:spPr>
        <p:txBody>
          <a:bodyPr wrap="square" lIns="0" tIns="0" rIns="0" bIns="0" rtlCol="0" anchor="ctr">
            <a:noAutofit/>
          </a:bodyPr>
          <a:lstStyle/>
          <a:p>
            <a:pPr marL="0" indent="0">
              <a:buNone/>
            </a:pPr>
            <a:r>
              <a:rPr lang="en-US" sz="1400" b="1" dirty="0">
                <a:solidFill>
                  <a:srgbClr val="D1495B"/>
                </a:solidFill>
              </a:rPr>
              <a:t>Not statistically supported</a:t>
            </a:r>
            <a:endParaRPr lang="en-US" sz="1400" dirty="0"/>
          </a:p>
        </p:txBody>
      </p:sp>
      <p:sp>
        <p:nvSpPr>
          <p:cNvPr id="16" name="Text 14"/>
          <p:cNvSpPr/>
          <p:nvPr/>
        </p:nvSpPr>
        <p:spPr>
          <a:xfrm>
            <a:off x="3794759" y="3163824"/>
            <a:ext cx="4663440" cy="228600"/>
          </a:xfrm>
          <a:prstGeom prst="rect">
            <a:avLst/>
          </a:prstGeom>
          <a:noFill/>
          <a:ln/>
        </p:spPr>
        <p:txBody>
          <a:bodyPr wrap="square" lIns="0" tIns="0" rIns="0" bIns="0" rtlCol="0" anchor="ctr">
            <a:normAutofit/>
          </a:bodyPr>
          <a:lstStyle/>
          <a:p>
            <a:pPr marL="0" indent="0">
              <a:buNone/>
            </a:pPr>
            <a:r>
              <a:rPr lang="en-US" sz="1400" dirty="0">
                <a:solidFill>
                  <a:srgbClr val="111827"/>
                </a:solidFill>
              </a:rPr>
              <a:t>Disinflation coincided with mixed unemployment outcomes.</a:t>
            </a:r>
            <a:endParaRPr lang="en-US" sz="1400" dirty="0"/>
          </a:p>
        </p:txBody>
      </p:sp>
      <p:sp>
        <p:nvSpPr>
          <p:cNvPr id="17" name="Text 15"/>
          <p:cNvSpPr/>
          <p:nvPr/>
        </p:nvSpPr>
        <p:spPr>
          <a:xfrm>
            <a:off x="777240" y="3886200"/>
            <a:ext cx="502920" cy="228600"/>
          </a:xfrm>
          <a:prstGeom prst="rect">
            <a:avLst/>
          </a:prstGeom>
          <a:noFill/>
          <a:ln/>
        </p:spPr>
        <p:txBody>
          <a:bodyPr wrap="square" lIns="0" tIns="0" rIns="0" bIns="0" rtlCol="0" anchor="ctr"/>
          <a:lstStyle/>
          <a:p>
            <a:pPr marL="0" indent="0">
              <a:buNone/>
            </a:pPr>
            <a:r>
              <a:rPr lang="en-US" sz="1400" b="1" dirty="0">
                <a:solidFill>
                  <a:srgbClr val="00A6A6"/>
                </a:solidFill>
              </a:rPr>
              <a:t>RQ4</a:t>
            </a:r>
            <a:endParaRPr lang="en-US" sz="1400" dirty="0"/>
          </a:p>
        </p:txBody>
      </p:sp>
      <p:sp>
        <p:nvSpPr>
          <p:cNvPr id="18" name="Text 16"/>
          <p:cNvSpPr/>
          <p:nvPr/>
        </p:nvSpPr>
        <p:spPr>
          <a:xfrm>
            <a:off x="1417320" y="3886200"/>
            <a:ext cx="2148840" cy="228600"/>
          </a:xfrm>
          <a:prstGeom prst="rect">
            <a:avLst/>
          </a:prstGeom>
          <a:noFill/>
          <a:ln/>
        </p:spPr>
        <p:txBody>
          <a:bodyPr wrap="square" lIns="0" tIns="0" rIns="0" bIns="0" rtlCol="0" anchor="ctr">
            <a:normAutofit/>
          </a:bodyPr>
          <a:lstStyle/>
          <a:p>
            <a:pPr marL="0" indent="0">
              <a:buNone/>
            </a:pPr>
            <a:r>
              <a:rPr lang="en-US" sz="1400" b="1" dirty="0">
                <a:solidFill>
                  <a:srgbClr val="1B998B"/>
                </a:solidFill>
              </a:rPr>
              <a:t>Supported descriptively</a:t>
            </a:r>
            <a:endParaRPr lang="en-US" sz="1400" dirty="0"/>
          </a:p>
        </p:txBody>
      </p:sp>
      <p:sp>
        <p:nvSpPr>
          <p:cNvPr id="19" name="Text 17"/>
          <p:cNvSpPr/>
          <p:nvPr/>
        </p:nvSpPr>
        <p:spPr>
          <a:xfrm>
            <a:off x="3794759" y="3895344"/>
            <a:ext cx="4663440" cy="228600"/>
          </a:xfrm>
          <a:prstGeom prst="rect">
            <a:avLst/>
          </a:prstGeom>
          <a:noFill/>
          <a:ln/>
        </p:spPr>
        <p:txBody>
          <a:bodyPr wrap="square" lIns="0" tIns="0" rIns="0" bIns="0" rtlCol="0" anchor="ctr">
            <a:normAutofit/>
          </a:bodyPr>
          <a:lstStyle/>
          <a:p>
            <a:pPr marL="0" indent="0">
              <a:buNone/>
            </a:pPr>
            <a:r>
              <a:rPr lang="en-US" sz="1400" dirty="0">
                <a:solidFill>
                  <a:srgbClr val="111827"/>
                </a:solidFill>
              </a:rPr>
              <a:t>Shocks produced temporary divergence in GDP and inflation.</a:t>
            </a:r>
            <a:endParaRPr lang="en-US" sz="1400" dirty="0"/>
          </a:p>
        </p:txBody>
      </p:sp>
      <p:sp>
        <p:nvSpPr>
          <p:cNvPr id="20" name="Text 18"/>
          <p:cNvSpPr/>
          <p:nvPr/>
        </p:nvSpPr>
        <p:spPr>
          <a:xfrm>
            <a:off x="8458200" y="1234440"/>
            <a:ext cx="2834640" cy="274320"/>
          </a:xfrm>
          <a:prstGeom prst="rect">
            <a:avLst/>
          </a:prstGeom>
          <a:noFill/>
          <a:ln/>
        </p:spPr>
        <p:txBody>
          <a:bodyPr wrap="square" lIns="0" tIns="0" rIns="0" bIns="0" rtlCol="0" anchor="ctr"/>
          <a:lstStyle/>
          <a:p>
            <a:pPr marL="0" indent="0">
              <a:buNone/>
            </a:pPr>
            <a:r>
              <a:rPr lang="en-US" b="1" dirty="0">
                <a:solidFill>
                  <a:srgbClr val="0B1F3A"/>
                </a:solidFill>
              </a:rPr>
              <a:t>Limitations</a:t>
            </a:r>
            <a:endParaRPr lang="en-US" dirty="0"/>
          </a:p>
        </p:txBody>
      </p:sp>
      <p:sp>
        <p:nvSpPr>
          <p:cNvPr id="21" name="Text 19"/>
          <p:cNvSpPr/>
          <p:nvPr/>
        </p:nvSpPr>
        <p:spPr>
          <a:xfrm>
            <a:off x="8458199" y="1691639"/>
            <a:ext cx="3733495" cy="1691171"/>
          </a:xfrm>
          <a:prstGeom prst="rect">
            <a:avLst/>
          </a:prstGeom>
          <a:noFill/>
          <a:ln/>
        </p:spPr>
        <p:txBody>
          <a:bodyPr wrap="square" lIns="254" tIns="254" rIns="254" bIns="254" rtlCol="0" anchor="ctr">
            <a:normAutofit lnSpcReduction="10000"/>
          </a:bodyPr>
          <a:lstStyle/>
          <a:p>
            <a:pPr marL="171450" indent="-171450">
              <a:buFont typeface="Arial" panose="020B0604020202020204" pitchFamily="34" charset="0"/>
              <a:buChar char="•"/>
            </a:pPr>
            <a:r>
              <a:rPr lang="en-US" sz="1600" dirty="0">
                <a:solidFill>
                  <a:srgbClr val="111827"/>
                </a:solidFill>
              </a:rPr>
              <a:t>27 observations in correlations: limited statistical power.</a:t>
            </a:r>
            <a:endParaRPr lang="en-US" sz="1600" dirty="0"/>
          </a:p>
          <a:p>
            <a:pPr marL="171450" indent="-171450">
              <a:buFont typeface="Arial" panose="020B0604020202020204" pitchFamily="34" charset="0"/>
              <a:buChar char="•"/>
            </a:pPr>
            <a:r>
              <a:rPr lang="en-US" sz="1600" dirty="0">
                <a:solidFill>
                  <a:srgbClr val="111827"/>
                </a:solidFill>
              </a:rPr>
              <a:t>Correlation is not causation.</a:t>
            </a:r>
            <a:endParaRPr lang="en-US" sz="1600" dirty="0"/>
          </a:p>
          <a:p>
            <a:pPr marL="171450" indent="-171450">
              <a:buFont typeface="Arial" panose="020B0604020202020204" pitchFamily="34" charset="0"/>
              <a:buChar char="•"/>
            </a:pPr>
            <a:r>
              <a:rPr lang="en-US" sz="1600" dirty="0">
                <a:solidFill>
                  <a:srgbClr val="111827"/>
                </a:solidFill>
              </a:rPr>
              <a:t>Unweighted countries, not EU-wide weighted economy.</a:t>
            </a:r>
            <a:endParaRPr lang="en-US" sz="1600" dirty="0"/>
          </a:p>
          <a:p>
            <a:pPr marL="171450" indent="-171450">
              <a:buFont typeface="Arial" panose="020B0604020202020204" pitchFamily="34" charset="0"/>
              <a:buChar char="•"/>
            </a:pPr>
            <a:r>
              <a:rPr lang="en-US" sz="1600" dirty="0">
                <a:solidFill>
                  <a:srgbClr val="111827"/>
                </a:solidFill>
              </a:rPr>
              <a:t>GDP growth is not GDP per capita or living standards.</a:t>
            </a:r>
            <a:endParaRPr lang="en-US" sz="1600" dirty="0"/>
          </a:p>
        </p:txBody>
      </p:sp>
      <p:sp>
        <p:nvSpPr>
          <p:cNvPr id="22" name="Text 20"/>
          <p:cNvSpPr/>
          <p:nvPr/>
        </p:nvSpPr>
        <p:spPr>
          <a:xfrm>
            <a:off x="685800" y="4983480"/>
            <a:ext cx="1828800" cy="274320"/>
          </a:xfrm>
          <a:prstGeom prst="rect">
            <a:avLst/>
          </a:prstGeom>
          <a:noFill/>
          <a:ln/>
        </p:spPr>
        <p:txBody>
          <a:bodyPr wrap="square" lIns="0" tIns="0" rIns="0" bIns="0" rtlCol="0" anchor="ctr"/>
          <a:lstStyle/>
          <a:p>
            <a:pPr marL="0" indent="0">
              <a:buNone/>
            </a:pPr>
            <a:r>
              <a:rPr lang="en-US" sz="1600" b="1" dirty="0">
                <a:solidFill>
                  <a:srgbClr val="0B1F3A"/>
                </a:solidFill>
              </a:rPr>
              <a:t>Next steps</a:t>
            </a:r>
            <a:endParaRPr lang="en-US" sz="1600" dirty="0"/>
          </a:p>
        </p:txBody>
      </p:sp>
      <p:sp>
        <p:nvSpPr>
          <p:cNvPr id="23" name="Text 21"/>
          <p:cNvSpPr/>
          <p:nvPr/>
        </p:nvSpPr>
        <p:spPr>
          <a:xfrm>
            <a:off x="685800" y="5358384"/>
            <a:ext cx="7498080" cy="502920"/>
          </a:xfrm>
          <a:prstGeom prst="rect">
            <a:avLst/>
          </a:prstGeom>
          <a:noFill/>
          <a:ln/>
        </p:spPr>
        <p:txBody>
          <a:bodyPr wrap="square" lIns="0" tIns="0" rIns="0" bIns="0" rtlCol="0" anchor="ctr">
            <a:normAutofit/>
          </a:bodyPr>
          <a:lstStyle/>
          <a:p>
            <a:pPr marL="0" indent="0">
              <a:buNone/>
            </a:pPr>
            <a:r>
              <a:rPr lang="en-US" sz="1300" dirty="0">
                <a:solidFill>
                  <a:srgbClr val="111827"/>
                </a:solidFill>
              </a:rPr>
              <a:t>Add pre-2019 baseline years, GDP per capita, energy exposure and robustness checks for outliers such as Malta and Ireland.</a:t>
            </a:r>
            <a:endParaRPr lang="en-US" sz="1300" dirty="0"/>
          </a:p>
        </p:txBody>
      </p:sp>
      <p:sp>
        <p:nvSpPr>
          <p:cNvPr id="24" name="Text 22"/>
          <p:cNvSpPr/>
          <p:nvPr/>
        </p:nvSpPr>
        <p:spPr>
          <a:xfrm>
            <a:off x="9372600" y="5783580"/>
            <a:ext cx="2560320" cy="411480"/>
          </a:xfrm>
          <a:prstGeom prst="rect">
            <a:avLst/>
          </a:prstGeom>
          <a:noFill/>
          <a:ln/>
        </p:spPr>
        <p:txBody>
          <a:bodyPr wrap="square" lIns="0" tIns="0" rIns="0" bIns="0" rtlCol="0" anchor="ctr"/>
          <a:lstStyle/>
          <a:p>
            <a:pPr marL="0" indent="0">
              <a:buNone/>
            </a:pPr>
            <a:r>
              <a:rPr lang="en-US" sz="2400" b="1" dirty="0">
                <a:solidFill>
                  <a:srgbClr val="0B1F3A"/>
                </a:solidFill>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431</TotalTime>
  <Words>1784</Words>
  <Application>Microsoft Office PowerPoint</Application>
  <PresentationFormat>Widescreen</PresentationFormat>
  <Paragraphs>249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Pandemic to Inflation: Europe’s Uneven Economic Recovery</dc:title>
  <dc:subject>Ironhack Project 1 EDA + SQL presentation</dc:subject>
  <dc:creator>Jonathan Weininger</dc:creator>
  <cp:lastModifiedBy>Jonathan weininger</cp:lastModifiedBy>
  <cp:revision>4</cp:revision>
  <dcterms:created xsi:type="dcterms:W3CDTF">2026-09-30T07:55:05Z</dcterms:created>
  <dcterms:modified xsi:type="dcterms:W3CDTF">2026-10-01T13:09:59Z</dcterms:modified>
</cp:coreProperties>
</file>